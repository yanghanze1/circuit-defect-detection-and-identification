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32"/>
  </p:notesMasterIdLst>
  <p:handoutMasterIdLst>
    <p:handoutMasterId r:id="rId33"/>
  </p:handoutMasterIdLst>
  <p:sldIdLst>
    <p:sldId id="315" r:id="rId5"/>
    <p:sldId id="374" r:id="rId6"/>
    <p:sldId id="323" r:id="rId7"/>
    <p:sldId id="354" r:id="rId8"/>
    <p:sldId id="320" r:id="rId9"/>
    <p:sldId id="325" r:id="rId10"/>
    <p:sldId id="362" r:id="rId11"/>
    <p:sldId id="351" r:id="rId12"/>
    <p:sldId id="366" r:id="rId13"/>
    <p:sldId id="363" r:id="rId14"/>
    <p:sldId id="364" r:id="rId15"/>
    <p:sldId id="367" r:id="rId16"/>
    <p:sldId id="334" r:id="rId17"/>
    <p:sldId id="350" r:id="rId18"/>
    <p:sldId id="355" r:id="rId19"/>
    <p:sldId id="358" r:id="rId20"/>
    <p:sldId id="356" r:id="rId21"/>
    <p:sldId id="357" r:id="rId22"/>
    <p:sldId id="368" r:id="rId23"/>
    <p:sldId id="369" r:id="rId24"/>
    <p:sldId id="361" r:id="rId25"/>
    <p:sldId id="360" r:id="rId26"/>
    <p:sldId id="371" r:id="rId27"/>
    <p:sldId id="372" r:id="rId28"/>
    <p:sldId id="318" r:id="rId29"/>
    <p:sldId id="309" r:id="rId30"/>
    <p:sldId id="37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15B8"/>
    <a:srgbClr val="97A7B8"/>
    <a:srgbClr val="C2E6F6"/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AFF86D-4E15-8864-9224-EEA119A944E4}" v="668" dt="2024-11-28T06:15:20.852"/>
    <p1510:client id="{38AA9CEE-1700-D515-76B1-B75A98418B57}" v="212" dt="2024-11-27T08:39:12.580"/>
    <p1510:client id="{6C0EFA6E-2C45-C155-EFE5-5C72981E1026}" v="19" dt="2024-11-27T08:45:07.560"/>
  </p1510:revLst>
</p1510:revInfo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5388" autoAdjust="0"/>
  </p:normalViewPr>
  <p:slideViewPr>
    <p:cSldViewPr snapToGrid="0">
      <p:cViewPr varScale="1">
        <p:scale>
          <a:sx n="91" d="100"/>
          <a:sy n="91" d="100"/>
        </p:scale>
        <p:origin x="748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11/30/2024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11/30/2024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702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875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576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149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103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441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268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72153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4602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897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85598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056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11/30/2024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4C61DF6-3A2D-55DA-8448-C2D07707E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B340BB-A35D-C47D-F28F-6FBE043F6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CDAB0E-1B08-9A3E-38B2-E60401CC0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4A4B38-C41B-0C14-CB28-67E972112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FD99EC-B9CC-A1AC-EFF4-B65977F54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9280CA-3626-981C-CF19-E559E0DA8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5C9117-F419-BD57-1080-86A4D1360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D54386-29C8-95E0-C9D9-78F27AD2E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868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92206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3336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4580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4780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1242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825689"/>
            <a:ext cx="7685728" cy="37415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30" y="825687"/>
            <a:ext cx="5957384" cy="3741551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3601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D60E3C33-714C-4528-93A6-4470C3E89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0836" y="-2"/>
            <a:ext cx="4481164" cy="6858002"/>
          </a:xfrm>
          <a:custGeom>
            <a:avLst/>
            <a:gdLst>
              <a:gd name="connsiteX0" fmla="*/ 0 w 5332064"/>
              <a:gd name="connsiteY0" fmla="*/ 0 h 6858002"/>
              <a:gd name="connsiteX1" fmla="*/ 5332064 w 5332064"/>
              <a:gd name="connsiteY1" fmla="*/ 0 h 6858002"/>
              <a:gd name="connsiteX2" fmla="*/ 5332064 w 5332064"/>
              <a:gd name="connsiteY2" fmla="*/ 6858002 h 6858002"/>
              <a:gd name="connsiteX3" fmla="*/ 0 w 5332064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064" h="6858002">
                <a:moveTo>
                  <a:pt x="0" y="0"/>
                </a:moveTo>
                <a:lnTo>
                  <a:pt x="5332064" y="0"/>
                </a:lnTo>
                <a:lnTo>
                  <a:pt x="5332064" y="6858002"/>
                </a:lnTo>
                <a:lnTo>
                  <a:pt x="0" y="6858002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2498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760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7E77A60-3019-43AE-AA38-E130C04C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BF0FB-88D2-4271-BFAF-D129CF8C2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0325" y="-4078"/>
            <a:ext cx="5787773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2B807B-6DFA-471C-B675-016416207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1031500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55D4C0-9882-489D-AD77-A9F38B37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1095508"/>
            <a:ext cx="5742273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EC5ED-FCAE-682A-C050-5878681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3392424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828" y="4816366"/>
            <a:ext cx="5125300" cy="1068929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</a:lstStyle>
          <a:p>
            <a:r>
              <a:rPr lang="en-US" sz="2000" dirty="0">
                <a:solidFill>
                  <a:schemeClr val="tx2"/>
                </a:solidFill>
              </a:rPr>
              <a:t>Click to add subtitle</a:t>
            </a:r>
          </a:p>
        </p:txBody>
      </p:sp>
      <p:sp>
        <p:nvSpPr>
          <p:cNvPr id="40" name="Picture Placeholder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99" y="1095509"/>
            <a:ext cx="6391656" cy="50168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7A5DB4-1ED7-4630-89AF-F1802E44E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44405"/>
            <a:ext cx="644667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5D4012-4107-490F-A369-EA7063242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6167615"/>
            <a:ext cx="5742273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5C79E2-9EA5-4713-B4AF-0E4572CFF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12249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4C09E2-06F0-4230-8DAD-A0DBF01F8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949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305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1023" y="167463"/>
            <a:ext cx="6408058" cy="158089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78806-0532-B92A-4326-73941B4232E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0"/>
            <a:ext cx="4613275" cy="685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B24183-BE19-B810-4EF4-D9959CAD15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40405" y="1959427"/>
            <a:ext cx="6408665" cy="416165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00000"/>
              </a:lnSpc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Aft>
                <a:spcPts val="600"/>
              </a:spcAft>
              <a:defRPr sz="1800"/>
            </a:lvl4pPr>
            <a:lvl5pPr>
              <a:lnSpc>
                <a:spcPct val="100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D15B6AB-EFBA-3087-EC3D-8DA945B7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405" y="6309360"/>
            <a:ext cx="3982428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A3371A6-1409-7906-744F-59D906DF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8415" y="6309360"/>
            <a:ext cx="1215204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546652F-6212-09E9-1A75-28F7C8EE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88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8" y="1034477"/>
            <a:ext cx="9380431" cy="2614551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4ADB5-E70F-B672-CBEB-D8194AEA7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6177" y="3649028"/>
            <a:ext cx="9380431" cy="2164715"/>
          </a:xfrm>
        </p:spPr>
        <p:txBody>
          <a:bodyPr anchor="t"/>
          <a:lstStyle>
            <a:lvl1pPr marL="0" indent="0">
              <a:lnSpc>
                <a:spcPct val="125000"/>
              </a:lnSpc>
              <a:buNone/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2400" b="0" kern="1200" spc="15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72130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778233C-CCEC-FC64-A709-616569B37D2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7FEFA15-354D-6389-9102-922A664A73A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966630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7804587-2E59-4D83-B86E-83ADAE4F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7929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2AD8E1-37CB-EB1E-9394-A293E1F2107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2590800"/>
            <a:ext cx="6441412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B37B294-6F01-986D-E8E5-119AE9A8F2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7362" y="2590800"/>
            <a:ext cx="3522849" cy="3718557"/>
          </a:xfrm>
        </p:spPr>
        <p:txBody>
          <a:bodyPr anchor="t">
            <a:normAutofit/>
          </a:bodyPr>
          <a:lstStyle>
            <a:lvl1pPr marL="285750" indent="-285750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47BB165-F380-48C4-B95B-C09C918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049579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805E9B-6657-4167-BD79-CAC59C0D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0EFA1AD-93FB-148E-CFC6-A6E5D996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378576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F875EEC-3E6C-5B97-FFE8-0D1ECAAAE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35372" y="462243"/>
            <a:ext cx="3098425" cy="3866324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1178" indent="0">
              <a:lnSpc>
                <a:spcPct val="125000"/>
              </a:lnSpc>
              <a:spcAft>
                <a:spcPts val="600"/>
              </a:spcAft>
              <a:buNone/>
              <a:defRPr sz="1800"/>
            </a:lvl2pPr>
            <a:lvl3pPr marL="566928" indent="0">
              <a:lnSpc>
                <a:spcPct val="125000"/>
              </a:lnSpc>
              <a:spcAft>
                <a:spcPts val="600"/>
              </a:spcAft>
              <a:buNone/>
              <a:defRPr sz="1800"/>
            </a:lvl3pPr>
            <a:lvl4pPr marL="850392" indent="0">
              <a:lnSpc>
                <a:spcPct val="125000"/>
              </a:lnSpc>
              <a:spcAft>
                <a:spcPts val="600"/>
              </a:spcAft>
              <a:buNone/>
              <a:defRPr sz="1800"/>
            </a:lvl4pPr>
            <a:lvl5pPr marL="1133856" indent="0">
              <a:lnSpc>
                <a:spcPct val="125000"/>
              </a:lnSpc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7">
            <a:extLst>
              <a:ext uri="{FF2B5EF4-FFF2-40B4-BE49-F238E27FC236}">
                <a16:creationId xmlns:a16="http://schemas.microsoft.com/office/drawing/2014/main" id="{0C5070DA-50C2-065D-00B0-3B12070D77E7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075238" y="461735"/>
            <a:ext cx="6473842" cy="386715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F8DD265-980F-4708-EDDF-3130F434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2941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A19A957-1FB5-43F8-B325-BBD9FEF23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A5410A-92A6-4C0B-9D89-186B7DD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3516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A26073-23A2-4B91-A128-79AA1BE93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51619"/>
            <a:ext cx="12192000" cy="474948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4D5DFA-0CEA-43F0-98EE-6C9F741F7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07836"/>
            <a:ext cx="4651248" cy="75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E19795B-1103-80EF-6098-1E8371D07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935" y="91439"/>
            <a:ext cx="10900146" cy="1168739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F766-C576-F298-E93A-CD0D832F8E4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8935" y="1646102"/>
            <a:ext cx="3819652" cy="4160520"/>
          </a:xfrm>
        </p:spPr>
        <p:txBody>
          <a:bodyPr anchor="t">
            <a:normAutofit/>
          </a:bodyPr>
          <a:lstStyle>
            <a:lvl1pPr>
              <a:lnSpc>
                <a:spcPct val="125000"/>
              </a:lnSpc>
              <a:spcAft>
                <a:spcPts val="600"/>
              </a:spcAft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52712D-F957-4B22-8B50-BE10410FF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01107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29">
            <a:extLst>
              <a:ext uri="{FF2B5EF4-FFF2-40B4-BE49-F238E27FC236}">
                <a16:creationId xmlns:a16="http://schemas.microsoft.com/office/drawing/2014/main" id="{26FD74F8-42BB-4CB4-ABF1-5F149743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423986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Date Placeholder 28">
            <a:extLst>
              <a:ext uri="{FF2B5EF4-FFF2-40B4-BE49-F238E27FC236}">
                <a16:creationId xmlns:a16="http://schemas.microsoft.com/office/drawing/2014/main" id="{5B031752-6400-4BFB-979F-E2EE795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620" y="6309360"/>
            <a:ext cx="3411973" cy="45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2" name="Slide Number Placeholder 30">
            <a:extLst>
              <a:ext uri="{FF2B5EF4-FFF2-40B4-BE49-F238E27FC236}">
                <a16:creationId xmlns:a16="http://schemas.microsoft.com/office/drawing/2014/main" id="{6A5CAEAF-7DEC-4B20-8B1E-301A9D0E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B696A3-EA34-4924-9037-E330B1CB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3798" y="6117631"/>
            <a:ext cx="64008" cy="7403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94D0A7-4358-49BF-96EE-8DEB6F4DCF5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79661" y="1646102"/>
            <a:ext cx="6863403" cy="4160520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8697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74D0E84D-2B51-9F8D-82CE-C086143DC60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630363" y="2757951"/>
            <a:ext cx="9918700" cy="3387579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0DB9557B-D9D3-4FA9-2D64-D2F91957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BC3F5B3-7690-C0DA-4084-5EFE50E8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99E56FFE-09D7-3078-C9E8-DFE8CF68A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15900463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1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6" r:id="rId18"/>
    <p:sldLayoutId id="2147483707" r:id="rId19"/>
    <p:sldLayoutId id="2147483708" r:id="rId20"/>
    <p:sldLayoutId id="2147483682" r:id="rId2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3" Type="http://schemas.openxmlformats.org/officeDocument/2006/relationships/image" Target="../media/image2.png"/><Relationship Id="rId21" Type="http://schemas.openxmlformats.org/officeDocument/2006/relationships/image" Target="../media/image20.jpe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png"/><Relationship Id="rId19" Type="http://schemas.openxmlformats.org/officeDocument/2006/relationships/image" Target="../media/image18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31.jpeg"/><Relationship Id="rId18" Type="http://schemas.openxmlformats.org/officeDocument/2006/relationships/image" Target="../media/image13.jpeg"/><Relationship Id="rId3" Type="http://schemas.openxmlformats.org/officeDocument/2006/relationships/image" Target="../media/image8.png"/><Relationship Id="rId21" Type="http://schemas.openxmlformats.org/officeDocument/2006/relationships/image" Target="../media/image16.jpeg"/><Relationship Id="rId7" Type="http://schemas.openxmlformats.org/officeDocument/2006/relationships/image" Target="../media/image2.png"/><Relationship Id="rId12" Type="http://schemas.openxmlformats.org/officeDocument/2006/relationships/image" Target="../media/image5.png"/><Relationship Id="rId17" Type="http://schemas.openxmlformats.org/officeDocument/2006/relationships/image" Target="../media/image12.jpeg"/><Relationship Id="rId25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1.jpeg"/><Relationship Id="rId20" Type="http://schemas.openxmlformats.org/officeDocument/2006/relationships/image" Target="../media/image15.jpe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11" Type="http://schemas.openxmlformats.org/officeDocument/2006/relationships/image" Target="../media/image7.png"/><Relationship Id="rId24" Type="http://schemas.openxmlformats.org/officeDocument/2006/relationships/image" Target="../media/image19.jpeg"/><Relationship Id="rId5" Type="http://schemas.openxmlformats.org/officeDocument/2006/relationships/image" Target="../media/image6.png"/><Relationship Id="rId15" Type="http://schemas.openxmlformats.org/officeDocument/2006/relationships/image" Target="../media/image33.jpeg"/><Relationship Id="rId23" Type="http://schemas.openxmlformats.org/officeDocument/2006/relationships/image" Target="../media/image18.jpeg"/><Relationship Id="rId10" Type="http://schemas.openxmlformats.org/officeDocument/2006/relationships/image" Target="../media/image10.png"/><Relationship Id="rId19" Type="http://schemas.openxmlformats.org/officeDocument/2006/relationships/image" Target="../media/image14.jpe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14" Type="http://schemas.openxmlformats.org/officeDocument/2006/relationships/image" Target="../media/image32.jpeg"/><Relationship Id="rId22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tif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3063" y="825687"/>
            <a:ext cx="10044440" cy="520173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 algn="ctr"/>
            <a:r>
              <a:rPr lang="zh-TW" altLang="en-US" sz="5400" dirty="0">
                <a:latin typeface="Cascadia Code SemiBold" panose="020B0609020000020004" pitchFamily="49" charset="0"/>
                <a:ea typeface="DFKai-SB"/>
                <a:cs typeface="Cascadia Code SemiBold" panose="020B0609020000020004" pitchFamily="49" charset="0"/>
              </a:rPr>
              <a:t>小尺寸TFT-LCD電路缺陷偵測與辨識系統的研究與開發</a:t>
            </a:r>
            <a:br>
              <a:rPr lang="zh-TW" altLang="en-US" dirty="0">
                <a:latin typeface="Cascadia Code SemiBold" panose="020B0609020000020004" pitchFamily="49" charset="0"/>
                <a:ea typeface="DFKai-SB"/>
                <a:cs typeface="Cascadia Code SemiBold" panose="020B0609020000020004" pitchFamily="49" charset="0"/>
              </a:rPr>
            </a:br>
            <a:br>
              <a:rPr lang="en-US" altLang="zh-TW" dirty="0">
                <a:latin typeface="Cascadia Code SemiBold" panose="020B0609020000020004" pitchFamily="49" charset="0"/>
                <a:ea typeface="DFKai-SB"/>
                <a:cs typeface="Cascadia Code SemiBold" panose="020B0609020000020004" pitchFamily="49" charset="0"/>
              </a:rPr>
            </a:br>
            <a:r>
              <a:rPr lang="zh-TW" altLang="en-US" sz="2800" b="0" dirty="0">
                <a:latin typeface="Cascadia Code SemiBold" panose="020B0609020000020004" pitchFamily="49" charset="0"/>
                <a:ea typeface="DFKai-SB"/>
                <a:cs typeface="Cascadia Code SemiBold" panose="020B0609020000020004" pitchFamily="49" charset="0"/>
              </a:rPr>
              <a:t>指導教授：賈叢林</a:t>
            </a:r>
            <a:endParaRPr lang="zh-TW" altLang="en-US" sz="2800" b="0" dirty="0">
              <a:latin typeface="Cascadia Code SemiBold" panose="020B0609020000020004" pitchFamily="49" charset="0"/>
              <a:ea typeface="Meiryo"/>
              <a:cs typeface="Cascadia Code SemiBold" panose="020B0609020000020004" pitchFamily="49" charset="0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zh-TW" altLang="en-US" sz="2800" b="0" dirty="0">
                <a:latin typeface="Cascadia Code SemiBold" panose="020B0609020000020004" pitchFamily="49" charset="0"/>
                <a:ea typeface="DFKai-SB"/>
                <a:cs typeface="Cascadia Code SemiBold" panose="020B0609020000020004" pitchFamily="49" charset="0"/>
              </a:rPr>
              <a:t>組員：温莉妍、周逸欣、夏采彤、</a:t>
            </a:r>
            <a:endParaRPr lang="en-US" altLang="zh-TW" sz="2800" b="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zh-TW" altLang="en-US" sz="2800" b="0" dirty="0">
                <a:latin typeface="Cascadia Code SemiBold" panose="020B0609020000020004" pitchFamily="49" charset="0"/>
                <a:ea typeface="DFKai-SB"/>
                <a:cs typeface="Cascadia Code SemiBold" panose="020B0609020000020004" pitchFamily="49" charset="0"/>
              </a:rPr>
              <a:t>曹芩慈、楊采蓮、楊漢澤</a:t>
            </a:r>
            <a:endParaRPr lang="en-US" altLang="zh-TW" sz="2800" b="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F6DCC8-F8E4-51BE-1DA8-41FC808ED8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01319" y="1789244"/>
            <a:ext cx="9989362" cy="3279512"/>
          </a:xfrm>
        </p:spPr>
        <p:txBody>
          <a:bodyPr vert="horz" lIns="109728" tIns="109728" rIns="109728" bIns="91440" numCol="2" rtlCol="0" anchor="t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sz="3600" b="1" dirty="0">
                <a:solidFill>
                  <a:schemeClr val="tx2">
                    <a:lumMod val="50000"/>
                  </a:schemeClr>
                </a:solidFill>
                <a:ea typeface="標楷體" panose="03000509000000000000" pitchFamily="65" charset="-120"/>
                <a:cs typeface="Cascadia Code SemiBold" panose="020B0609020000020004" pitchFamily="49" charset="0"/>
              </a:rPr>
              <a:t>研究動機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標楷體" panose="03000509000000000000" pitchFamily="65" charset="-120"/>
              <a:cs typeface="Cascadia Code SemiBold" panose="020B06090200000200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sz="3600" b="1" dirty="0">
                <a:solidFill>
                  <a:schemeClr val="tx2">
                    <a:lumMod val="50000"/>
                  </a:schemeClr>
                </a:solidFill>
                <a:ea typeface="標楷體" panose="03000509000000000000" pitchFamily="65" charset="-120"/>
                <a:cs typeface="Cascadia Code SemiBold" panose="020B0609020000020004" pitchFamily="49" charset="0"/>
              </a:rPr>
              <a:t>瑕疵定位</a:t>
            </a:r>
            <a:endParaRPr lang="en-US" altLang="zh-TW" sz="3600" b="1" dirty="0">
              <a:solidFill>
                <a:schemeClr val="tx2">
                  <a:lumMod val="50000"/>
                </a:schemeClr>
              </a:solidFill>
              <a:ea typeface="標楷體" panose="03000509000000000000" pitchFamily="65" charset="-120"/>
              <a:cs typeface="Cascadia Code SemiBold" panose="020B06090200000200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sz="3600" b="1" dirty="0">
                <a:solidFill>
                  <a:schemeClr val="tx2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特徵影像預處理</a:t>
            </a:r>
            <a:endParaRPr lang="zh-TW" altLang="en-US" sz="3600" b="1" dirty="0">
              <a:solidFill>
                <a:schemeClr val="tx2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Cascadia Code SemiBold" panose="020B06090200000200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sz="3600" b="1" dirty="0">
                <a:solidFill>
                  <a:schemeClr val="tx2">
                    <a:lumMod val="50000"/>
                  </a:schemeClr>
                </a:solidFill>
                <a:ea typeface="標楷體" panose="03000509000000000000" pitchFamily="65" charset="-120"/>
                <a:cs typeface="Cascadia Code SemiBold" panose="020B0609020000020004" pitchFamily="49" charset="0"/>
              </a:rPr>
              <a:t>宏觀瑕疵偵測與辨識 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3600" b="1" dirty="0">
                <a:solidFill>
                  <a:schemeClr val="tx2">
                    <a:lumMod val="50000"/>
                  </a:schemeClr>
                </a:solidFill>
                <a:ea typeface="標楷體" panose="03000509000000000000" pitchFamily="65" charset="-120"/>
                <a:cs typeface="Cascadia Code SemiBold" panose="020B0609020000020004" pitchFamily="49" charset="0"/>
              </a:rPr>
              <a:t>微觀瑕疵檢測與識別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3600" b="1" dirty="0">
                <a:solidFill>
                  <a:schemeClr val="tx2">
                    <a:lumMod val="50000"/>
                  </a:schemeClr>
                </a:solidFill>
                <a:ea typeface="標楷體" panose="03000509000000000000" pitchFamily="65" charset="-120"/>
                <a:cs typeface="Cascadia Code SemiBold" panose="020B0609020000020004" pitchFamily="49" charset="0"/>
              </a:rPr>
              <a:t>實驗成果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3600" b="1" dirty="0">
                <a:solidFill>
                  <a:schemeClr val="tx2">
                    <a:lumMod val="50000"/>
                  </a:schemeClr>
                </a:solidFill>
                <a:ea typeface="標楷體" panose="03000509000000000000" pitchFamily="65" charset="-120"/>
                <a:cs typeface="Cascadia Code SemiBold" panose="020B0609020000020004" pitchFamily="49" charset="0"/>
              </a:rPr>
              <a:t>未來方向</a:t>
            </a:r>
          </a:p>
          <a:p>
            <a:pPr marL="514350" indent="-514350">
              <a:buFont typeface="+mj-lt"/>
              <a:buAutoNum type="arabicPeriod"/>
            </a:pPr>
            <a:endParaRPr lang="en-US" sz="3600" cap="all" dirty="0">
              <a:solidFill>
                <a:schemeClr val="tx2">
                  <a:lumMod val="50000"/>
                </a:schemeClr>
              </a:solidFill>
              <a:ea typeface="標楷體" panose="03000509000000000000" pitchFamily="65" charset="-120"/>
              <a:cs typeface="Cascadia Code SemiBold" panose="020B0609020000020004" pitchFamily="49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775CB3E-529B-277C-6A62-F73270C7C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20" y="71135"/>
            <a:ext cx="10899775" cy="1168400"/>
          </a:xfrm>
        </p:spPr>
        <p:txBody>
          <a:bodyPr>
            <a:noAutofit/>
          </a:bodyPr>
          <a:lstStyle/>
          <a:p>
            <a:pPr algn="ctr"/>
            <a:r>
              <a:rPr lang="zh-TW" altLang="en-US" sz="4800" dirty="0">
                <a:solidFill>
                  <a:schemeClr val="bg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Cascadia Code SemiBold" panose="020B0609020000020004" pitchFamily="49" charset="0"/>
              </a:rPr>
              <a:t>簡報大綱</a:t>
            </a:r>
            <a:endParaRPr lang="en-US" sz="4800" dirty="0">
              <a:solidFill>
                <a:schemeClr val="bg2"/>
              </a:solidFill>
              <a:latin typeface="標楷體" panose="03000509000000000000" pitchFamily="65" charset="-120"/>
              <a:ea typeface="標楷體" panose="03000509000000000000" pitchFamily="65" charset="-120"/>
              <a:cs typeface="Cascadia Code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484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5E9682-ED0C-5DFA-81FA-F69C216D8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000" dirty="0">
                <a:solidFill>
                  <a:schemeClr val="tx2">
                    <a:lumMod val="76000"/>
                  </a:schemeClr>
                </a:solidFill>
                <a:latin typeface="dfkai-sb"/>
                <a:ea typeface="Meiryo"/>
                <a:cs typeface="Arial"/>
              </a:rPr>
              <a:t>研究動機</a:t>
            </a:r>
            <a:endParaRPr lang="en-US" sz="4000" dirty="0">
              <a:solidFill>
                <a:schemeClr val="tx2">
                  <a:lumMod val="76000"/>
                </a:schemeClr>
              </a:solidFill>
              <a:latin typeface="dfkai-sb"/>
              <a:ea typeface="Meiryo"/>
              <a:cs typeface="Arial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0FD251-20AE-7CA0-1215-9A3FA0C75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166" y="1431826"/>
            <a:ext cx="7119756" cy="39943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TW" altLang="en-US" sz="2800" b="0" dirty="0">
                <a:solidFill>
                  <a:srgbClr val="0070C0"/>
                </a:solidFill>
              </a:rPr>
              <a:t>確保品質：</a:t>
            </a:r>
            <a:r>
              <a:rPr lang="zh-TW" altLang="en-US" sz="2800" b="0" dirty="0"/>
              <a:t>快速偵測並分類瑕疵，保障產品達到高品質標準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TW" altLang="en-US" sz="2800" b="0" dirty="0">
                <a:solidFill>
                  <a:srgbClr val="0070C0"/>
                </a:solidFill>
              </a:rPr>
              <a:t>成本效益：</a:t>
            </a:r>
            <a:r>
              <a:rPr lang="zh-TW" altLang="en-US" sz="2800" b="0" dirty="0"/>
              <a:t>降低退貨與廢品率，減少生產成本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TW" altLang="en-US" sz="2800" b="0" dirty="0">
                <a:solidFill>
                  <a:srgbClr val="0070C0"/>
                </a:solidFill>
              </a:rPr>
              <a:t>市場競爭力：</a:t>
            </a:r>
            <a:r>
              <a:rPr lang="zh-TW" altLang="en-US" sz="2800" b="0" dirty="0"/>
              <a:t>提升客戶滿意度，增強品牌形象與市場地位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endParaRPr lang="en-US" altLang="zh-TW" sz="2800" b="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729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4EE865D-5A59-4DD1-A94D-A8DBE4A9E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23EFB5-5855-497F-AC57-6C194148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8455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7AC692A-3259-3938-D66F-C1781C8F1D03}"/>
              </a:ext>
            </a:extLst>
          </p:cNvPr>
          <p:cNvGrpSpPr/>
          <p:nvPr/>
        </p:nvGrpSpPr>
        <p:grpSpPr>
          <a:xfrm>
            <a:off x="685445" y="1870256"/>
            <a:ext cx="11132402" cy="3528310"/>
            <a:chOff x="1226531" y="1937789"/>
            <a:chExt cx="10161927" cy="3220727"/>
          </a:xfrm>
        </p:grpSpPr>
        <p:grpSp>
          <p:nvGrpSpPr>
            <p:cNvPr id="5" name="群組 6">
              <a:extLst>
                <a:ext uri="{FF2B5EF4-FFF2-40B4-BE49-F238E27FC236}">
                  <a16:creationId xmlns:a16="http://schemas.microsoft.com/office/drawing/2014/main" id="{152E4826-3894-52B9-B63C-E71815038F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6531" y="1937789"/>
              <a:ext cx="10161927" cy="3220727"/>
              <a:chOff x="0" y="-203"/>
              <a:chExt cx="50691" cy="17309"/>
            </a:xfrm>
          </p:grpSpPr>
          <p:grpSp>
            <p:nvGrpSpPr>
              <p:cNvPr id="13" name="群組 8">
                <a:extLst>
                  <a:ext uri="{FF2B5EF4-FFF2-40B4-BE49-F238E27FC236}">
                    <a16:creationId xmlns:a16="http://schemas.microsoft.com/office/drawing/2014/main" id="{F1F8798A-694D-9C84-3290-CE1F5619C2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-203"/>
                <a:ext cx="50691" cy="17309"/>
                <a:chOff x="0" y="-203"/>
                <a:chExt cx="50691" cy="17310"/>
              </a:xfrm>
            </p:grpSpPr>
            <p:grpSp>
              <p:nvGrpSpPr>
                <p:cNvPr id="15" name="群組 10">
                  <a:extLst>
                    <a:ext uri="{FF2B5EF4-FFF2-40B4-BE49-F238E27FC236}">
                      <a16:creationId xmlns:a16="http://schemas.microsoft.com/office/drawing/2014/main" id="{B3E5828C-CD8C-F456-3906-3A1C736DF22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-203"/>
                  <a:ext cx="50691" cy="17310"/>
                  <a:chOff x="0" y="-203"/>
                  <a:chExt cx="50691" cy="17311"/>
                </a:xfrm>
              </p:grpSpPr>
              <p:grpSp>
                <p:nvGrpSpPr>
                  <p:cNvPr id="17" name="群組 12">
                    <a:extLst>
                      <a:ext uri="{FF2B5EF4-FFF2-40B4-BE49-F238E27FC236}">
                        <a16:creationId xmlns:a16="http://schemas.microsoft.com/office/drawing/2014/main" id="{50CA78A3-DAC5-C335-C274-21861FF4B38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2556"/>
                    <a:ext cx="50691" cy="12696"/>
                    <a:chOff x="0" y="0"/>
                    <a:chExt cx="50694" cy="12698"/>
                  </a:xfrm>
                </p:grpSpPr>
                <p:sp>
                  <p:nvSpPr>
                    <p:cNvPr id="20" name="圓角矩形 223">
                      <a:extLst>
                        <a:ext uri="{FF2B5EF4-FFF2-40B4-BE49-F238E27FC236}">
                          <a16:creationId xmlns:a16="http://schemas.microsoft.com/office/drawing/2014/main" id="{AE77AE27-F3A6-03ED-057F-31B21FC1994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075" y="6254"/>
                      <a:ext cx="17270" cy="5963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12700">
                      <a:solidFill>
                        <a:schemeClr val="accent1">
                          <a:lumMod val="50000"/>
                          <a:lumOff val="0"/>
                        </a:schemeClr>
                      </a:solidFill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21" name="圓角矩形 224">
                      <a:extLst>
                        <a:ext uri="{FF2B5EF4-FFF2-40B4-BE49-F238E27FC236}">
                          <a16:creationId xmlns:a16="http://schemas.microsoft.com/office/drawing/2014/main" id="{8A476678-5A15-725E-3417-85B1C15A900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900" y="0"/>
                      <a:ext cx="17287" cy="5962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  <a:ln w="12700">
                      <a:solidFill>
                        <a:schemeClr val="accent1">
                          <a:lumMod val="50000"/>
                          <a:lumOff val="0"/>
                        </a:schemeClr>
                      </a:solidFill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zh-TW" altLang="en-US"/>
                    </a:p>
                  </p:txBody>
                </p:sp>
                <p:grpSp>
                  <p:nvGrpSpPr>
                    <p:cNvPr id="22" name="群組 17">
                      <a:extLst>
                        <a:ext uri="{FF2B5EF4-FFF2-40B4-BE49-F238E27FC236}">
                          <a16:creationId xmlns:a16="http://schemas.microsoft.com/office/drawing/2014/main" id="{D8CAE3B2-022F-E016-4B75-3A2BF9AF760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954"/>
                      <a:ext cx="50694" cy="11744"/>
                      <a:chOff x="0" y="254"/>
                      <a:chExt cx="50694" cy="11744"/>
                    </a:xfrm>
                  </p:grpSpPr>
                  <p:cxnSp>
                    <p:nvCxnSpPr>
                      <p:cNvPr id="23" name="直線單箭頭接點 18">
                        <a:extLst>
                          <a:ext uri="{FF2B5EF4-FFF2-40B4-BE49-F238E27FC236}">
                            <a16:creationId xmlns:a16="http://schemas.microsoft.com/office/drawing/2014/main" id="{CCE16549-E5EB-2BC2-0FA5-8923B9D2468C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29094" y="8575"/>
                        <a:ext cx="1800" cy="0"/>
                      </a:xfrm>
                      <a:prstGeom prst="straightConnector1">
                        <a:avLst/>
                      </a:prstGeom>
                      <a:noFill/>
                      <a:ln w="28575">
                        <a:solidFill>
                          <a:schemeClr val="dk1">
                            <a:lumMod val="100000"/>
                            <a:lumOff val="0"/>
                          </a:schemeClr>
                        </a:solidFill>
                        <a:miter lim="800000"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grpSp>
                    <p:nvGrpSpPr>
                      <p:cNvPr id="24" name="群組 19">
                        <a:extLst>
                          <a:ext uri="{FF2B5EF4-FFF2-40B4-BE49-F238E27FC236}">
                            <a16:creationId xmlns:a16="http://schemas.microsoft.com/office/drawing/2014/main" id="{6C82B25A-F38D-96A8-FEED-3AEBC89D97A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0" y="254"/>
                        <a:ext cx="50694" cy="11744"/>
                        <a:chOff x="0" y="254"/>
                        <a:chExt cx="50694" cy="11744"/>
                      </a:xfrm>
                    </p:grpSpPr>
                    <p:cxnSp>
                      <p:nvCxnSpPr>
                        <p:cNvPr id="25" name="直線單箭頭接點 20">
                          <a:extLst>
                            <a:ext uri="{FF2B5EF4-FFF2-40B4-BE49-F238E27FC236}">
                              <a16:creationId xmlns:a16="http://schemas.microsoft.com/office/drawing/2014/main" id="{B6D88560-810E-709E-9393-92F8C725D56B}"/>
                            </a:ext>
                          </a:extLst>
                        </p:cNvPr>
                        <p:cNvCxnSpPr>
                          <a:cxnSpLocks noChangeShapeType="1"/>
                        </p:cNvCxnSpPr>
                        <p:nvPr/>
                      </p:nvCxnSpPr>
                      <p:spPr bwMode="auto">
                        <a:xfrm>
                          <a:off x="29094" y="2012"/>
                          <a:ext cx="1800" cy="0"/>
                        </a:xfrm>
                        <a:prstGeom prst="straightConnector1">
                          <a:avLst/>
                        </a:prstGeom>
                        <a:noFill/>
                        <a:ln w="28575">
                          <a:solidFill>
                            <a:schemeClr val="dk1">
                              <a:lumMod val="100000"/>
                              <a:lumOff val="0"/>
                            </a:schemeClr>
                          </a:solidFill>
                          <a:miter lim="800000"/>
                          <a:headEnd/>
                          <a:tailEnd type="triangle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</p:cxnSp>
                    <p:grpSp>
                      <p:nvGrpSpPr>
                        <p:cNvPr id="26" name="群組 23">
                          <a:extLst>
                            <a:ext uri="{FF2B5EF4-FFF2-40B4-BE49-F238E27FC236}">
                              <a16:creationId xmlns:a16="http://schemas.microsoft.com/office/drawing/2014/main" id="{8DB45F5E-8E70-C22F-2BE2-48BDEFD2C40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0" y="254"/>
                          <a:ext cx="50694" cy="11744"/>
                          <a:chOff x="0" y="254"/>
                          <a:chExt cx="50694" cy="11744"/>
                        </a:xfrm>
                      </p:grpSpPr>
                      <p:grpSp>
                        <p:nvGrpSpPr>
                          <p:cNvPr id="27" name="群組 24">
                            <a:extLst>
                              <a:ext uri="{FF2B5EF4-FFF2-40B4-BE49-F238E27FC236}">
                                <a16:creationId xmlns:a16="http://schemas.microsoft.com/office/drawing/2014/main" id="{0F65746D-8055-353E-4B23-79BB2F5A9D3C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0" y="2328"/>
                            <a:ext cx="18323" cy="9670"/>
                            <a:chOff x="0" y="0"/>
                            <a:chExt cx="18323" cy="9670"/>
                          </a:xfrm>
                        </p:grpSpPr>
                        <p:grpSp>
                          <p:nvGrpSpPr>
                            <p:cNvPr id="53" name="群組 56">
                              <a:extLst>
                                <a:ext uri="{FF2B5EF4-FFF2-40B4-BE49-F238E27FC236}">
                                  <a16:creationId xmlns:a16="http://schemas.microsoft.com/office/drawing/2014/main" id="{7F47B862-8703-A5A3-636F-A9A957159686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0" y="65"/>
                              <a:ext cx="12243" cy="9605"/>
                              <a:chOff x="0" y="0"/>
                              <a:chExt cx="12243" cy="9603"/>
                            </a:xfrm>
                          </p:grpSpPr>
                          <p:grpSp>
                            <p:nvGrpSpPr>
                              <p:cNvPr id="69" name="群組 72">
                                <a:extLst>
                                  <a:ext uri="{FF2B5EF4-FFF2-40B4-BE49-F238E27FC236}">
                                    <a16:creationId xmlns:a16="http://schemas.microsoft.com/office/drawing/2014/main" id="{F646E6AB-2AF7-9689-0C1C-109BEA5CC67A}"/>
                                  </a:ext>
                                </a:extLst>
                              </p:cNvPr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0" y="0"/>
                                <a:ext cx="7125" cy="9603"/>
                                <a:chOff x="0" y="0"/>
                                <a:chExt cx="7125" cy="9603"/>
                              </a:xfrm>
                            </p:grpSpPr>
                            <p:grpSp>
                              <p:nvGrpSpPr>
                                <p:cNvPr id="74" name="群組 77">
                                  <a:extLst>
                                    <a:ext uri="{FF2B5EF4-FFF2-40B4-BE49-F238E27FC236}">
                                      <a16:creationId xmlns:a16="http://schemas.microsoft.com/office/drawing/2014/main" id="{E51050D5-6C04-C221-B74A-3A15D5F9DCC1}"/>
                                    </a:ext>
                                  </a:extLst>
                                </p:cNvPr>
                                <p:cNvGrpSpPr>
                                  <a:grpSpLocks/>
                                </p:cNvGrpSpPr>
                                <p:nvPr/>
                              </p:nvGrpSpPr>
                              <p:grpSpPr bwMode="auto">
                                <a:xfrm>
                                  <a:off x="0" y="0"/>
                                  <a:ext cx="7125" cy="9603"/>
                                  <a:chOff x="0" y="0"/>
                                  <a:chExt cx="7125" cy="9603"/>
                                </a:xfrm>
                              </p:grpSpPr>
                              <p:sp>
                                <p:nvSpPr>
                                  <p:cNvPr id="79" name="圓角矩形 236">
                                    <a:extLst>
                                      <a:ext uri="{FF2B5EF4-FFF2-40B4-BE49-F238E27FC236}">
                                        <a16:creationId xmlns:a16="http://schemas.microsoft.com/office/drawing/2014/main" id="{B2F43061-F980-4762-3987-843F9B5D816D}"/>
                                      </a:ext>
                                    </a:extLst>
                                  </p:cNvPr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2039" y="0"/>
                                    <a:ext cx="3674" cy="5412"/>
                                  </a:xfrm>
                                  <a:prstGeom prst="roundRect">
                                    <a:avLst>
                                      <a:gd name="adj" fmla="val 16667"/>
                                    </a:avLst>
                                  </a:prstGeom>
                                  <a:gradFill rotWithShape="1">
                                    <a:gsLst>
                                      <a:gs pos="0">
                                        <a:srgbClr val="FFDD9C"/>
                                      </a:gs>
                                      <a:gs pos="50000">
                                        <a:srgbClr val="FFD78E"/>
                                      </a:gs>
                                      <a:gs pos="100000">
                                        <a:srgbClr val="FFD479"/>
                                      </a:gs>
                                    </a:gsLst>
                                    <a:lin ang="5400000"/>
                                  </a:gradFill>
                                  <a:ln w="6350">
                                    <a:solidFill>
                                      <a:srgbClr val="0000FF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 rot="0" vert="horz" wrap="square" lIns="91440" tIns="45720" rIns="91440" bIns="45720" anchor="ctr" anchorCtr="0" upright="1">
                                    <a:noAutofit/>
                                  </a:bodyPr>
                                  <a:lstStyle/>
                                  <a:p>
                                    <a:endParaRPr lang="zh-TW" altLang="en-US"/>
                                  </a:p>
                                </p:txBody>
                              </p:sp>
                              <p:pic>
                                <p:nvPicPr>
                                  <p:cNvPr id="80" name="圖片 83">
                                    <a:extLst>
                                      <a:ext uri="{FF2B5EF4-FFF2-40B4-BE49-F238E27FC236}">
                                        <a16:creationId xmlns:a16="http://schemas.microsoft.com/office/drawing/2014/main" id="{169D9A03-6879-05FD-4B01-5530319B10F6}"/>
                                      </a:ext>
                                    </a:extLst>
                                  </p:cNvPr>
                                  <p:cNvPicPr>
                                    <a:picLocks noChangeAspect="1"/>
                                  </p:cNvPicPr>
                                  <p:nvPr/>
                                </p:nvPicPr>
                                <p:blipFill>
                                  <a:blip r:embed="rId2" cstate="print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2302" y="263"/>
                                    <a:ext cx="1492" cy="889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</a:extLst>
                                </p:spPr>
                              </p:pic>
                              <p:pic>
                                <p:nvPicPr>
                                  <p:cNvPr id="81" name="圖片 84">
                                    <a:extLst>
                                      <a:ext uri="{FF2B5EF4-FFF2-40B4-BE49-F238E27FC236}">
                                        <a16:creationId xmlns:a16="http://schemas.microsoft.com/office/drawing/2014/main" id="{2CF023C6-A353-4896-6153-3F2B0B40D831}"/>
                                      </a:ext>
                                    </a:extLst>
                                  </p:cNvPr>
                                  <p:cNvPicPr>
                                    <a:picLocks noChangeAspect="1"/>
                                  </p:cNvPicPr>
                                  <p:nvPr/>
                                </p:nvPicPr>
                                <p:blipFill>
                                  <a:blip r:embed="rId3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2302" y="3157"/>
                                    <a:ext cx="1492" cy="889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</a:extLst>
                                </p:spPr>
                              </p:pic>
                              <p:pic>
                                <p:nvPicPr>
                                  <p:cNvPr id="82" name="圖片 85">
                                    <a:extLst>
                                      <a:ext uri="{FF2B5EF4-FFF2-40B4-BE49-F238E27FC236}">
                                        <a16:creationId xmlns:a16="http://schemas.microsoft.com/office/drawing/2014/main" id="{887E854F-868E-5160-438E-14B4DD05C1AE}"/>
                                      </a:ext>
                                    </a:extLst>
                                  </p:cNvPr>
                                  <p:cNvPicPr>
                                    <a:picLocks noChangeAspect="1"/>
                                  </p:cNvPicPr>
                                  <p:nvPr/>
                                </p:nvPicPr>
                                <p:blipFill>
                                  <a:blip r:embed="rId4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2302" y="4144"/>
                                    <a:ext cx="1492" cy="889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</a:extLst>
                                </p:spPr>
                              </p:pic>
                              <p:pic>
                                <p:nvPicPr>
                                  <p:cNvPr id="83" name="圖片 86">
                                    <a:extLst>
                                      <a:ext uri="{FF2B5EF4-FFF2-40B4-BE49-F238E27FC236}">
                                        <a16:creationId xmlns:a16="http://schemas.microsoft.com/office/drawing/2014/main" id="{0758A1C4-D8D7-8788-0EDB-85059D593EB0}"/>
                                      </a:ext>
                                    </a:extLst>
                                  </p:cNvPr>
                                  <p:cNvPicPr>
                                    <a:picLocks/>
                                  </p:cNvPicPr>
                                  <p:nvPr/>
                                </p:nvPicPr>
                                <p:blipFill>
                                  <a:blip r:embed="rId5" cstate="print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3881" y="263"/>
                                    <a:ext cx="1492" cy="895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</a:extLst>
                                </p:spPr>
                              </p:pic>
                              <p:pic>
                                <p:nvPicPr>
                                  <p:cNvPr id="84" name="圖片 87">
                                    <a:extLst>
                                      <a:ext uri="{FF2B5EF4-FFF2-40B4-BE49-F238E27FC236}">
                                        <a16:creationId xmlns:a16="http://schemas.microsoft.com/office/drawing/2014/main" id="{7C186E7A-C38B-BC2E-0385-D732695FCE1B}"/>
                                      </a:ext>
                                    </a:extLst>
                                  </p:cNvPr>
                                  <p:cNvPicPr>
                                    <a:picLocks/>
                                  </p:cNvPicPr>
                                  <p:nvPr/>
                                </p:nvPicPr>
                                <p:blipFill>
                                  <a:blip r:embed="rId6" cstate="print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3881" y="4144"/>
                                    <a:ext cx="1492" cy="895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FF000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</a:extLst>
                                </p:spPr>
                              </p:pic>
                              <p:sp>
                                <p:nvSpPr>
                                  <p:cNvPr id="85" name="文字方塊 242">
                                    <a:extLst>
                                      <a:ext uri="{FF2B5EF4-FFF2-40B4-BE49-F238E27FC236}">
                                        <a16:creationId xmlns:a16="http://schemas.microsoft.com/office/drawing/2014/main" id="{4BDAD979-A55D-35DE-3CFE-0C0C78AEE9C0}"/>
                                      </a:ext>
                                    </a:extLst>
                                  </p:cNvPr>
                                  <p:cNvSpPr txBox="1"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0" y="5267"/>
                                    <a:ext cx="7125" cy="4336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>
                                    <a:noFill/>
                                  </a:ln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  <a:ext uri="{91240B29-F687-4F45-9708-019B960494DF}">
                                      <a14:hiddenLine xmlns:a14="http://schemas.microsoft.com/office/drawing/2010/main" w="9525">
                                        <a:solidFill>
                                          <a:srgbClr val="000000"/>
                                        </a:solidFill>
                                        <a:miter lim="800000"/>
                                        <a:headEnd/>
                                        <a:tailEnd/>
                                      </a14:hiddenLine>
                                    </a:ext>
                                  </a:extLst>
                                </p:spPr>
                                <p:txBody>
                                  <a:bodyPr rot="0" vert="horz" wrap="square" lIns="91440" tIns="45720" rIns="91440" bIns="45720" anchor="t" anchorCtr="0" upright="1">
                                    <a:noAutofit/>
                                  </a:bodyPr>
                                  <a:lstStyle/>
                                  <a:p>
                                    <a:pPr algn="ctr">
                                      <a:spcBef>
                                        <a:spcPts val="500"/>
                                      </a:spcBef>
                                      <a:spcAft>
                                        <a:spcPts val="500"/>
                                      </a:spcAft>
                                    </a:pPr>
                                    <a:r>
                                      <a:rPr lang="zh-TW" altLang="en-US" sz="1600" kern="150">
                                        <a:latin typeface="Calibri" panose="020F0502020204030204" pitchFamily="34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a:t>特徵影像</a:t>
                                    </a:r>
                                    <a:endParaRPr lang="zh-TW" altLang="en-US" sz="1600" kern="150">
                                      <a:latin typeface="Calibri" panose="020F0502020204030204" pitchFamily="34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endParaRPr>
                                  </a:p>
                                  <a:p>
                                    <a:pPr indent="203195" algn="ctr">
                                      <a:spcBef>
                                        <a:spcPts val="500"/>
                                      </a:spcBef>
                                      <a:spcAft>
                                        <a:spcPts val="500"/>
                                      </a:spcAft>
                                    </a:pPr>
                                    <a:r>
                                      <a:rPr lang="en-US" sz="1600" i="1" kern="150">
                                        <a:latin typeface="Calibri" panose="020F0502020204030204" pitchFamily="34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a:t>I</a:t>
                                    </a:r>
                                    <a:r>
                                      <a:rPr lang="en-US" sz="1600" kern="150" baseline="-25000">
                                        <a:latin typeface="Calibri" panose="020F0502020204030204" pitchFamily="34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a:t>0 </a:t>
                                    </a:r>
                                    <a:r>
                                      <a:rPr lang="en-US" sz="1600" kern="150">
                                        <a:latin typeface="Calibri" panose="020F0502020204030204" pitchFamily="34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a:t>~ </a:t>
                                    </a:r>
                                    <a:r>
                                      <a:rPr lang="en-US" sz="1600" i="1" kern="150">
                                        <a:latin typeface="Calibri" panose="020F0502020204030204" pitchFamily="34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a:t>I</a:t>
                                    </a:r>
                                    <a:r>
                                      <a:rPr lang="en-US" sz="1600" kern="150" baseline="-25000">
                                        <a:latin typeface="Calibri" panose="020F0502020204030204" pitchFamily="34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a:t>9</a:t>
                                    </a:r>
                                    <a:endParaRPr lang="zh-TW" altLang="en-US" sz="1600" kern="150">
                                      <a:latin typeface="Calibri" panose="020F0502020204030204" pitchFamily="34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endParaRPr>
                                  </a:p>
                                </p:txBody>
                              </p:sp>
                              <p:pic>
                                <p:nvPicPr>
                                  <p:cNvPr id="86" name="圖片 89">
                                    <a:extLst>
                                      <a:ext uri="{FF2B5EF4-FFF2-40B4-BE49-F238E27FC236}">
                                        <a16:creationId xmlns:a16="http://schemas.microsoft.com/office/drawing/2014/main" id="{DAAF3B5D-80A2-08C9-7D91-1B1D8A5EFCC3}"/>
                                      </a:ext>
                                    </a:extLst>
                                  </p:cNvPr>
                                  <p:cNvPicPr>
                                    <a:picLocks noChangeAspect="1"/>
                                  </p:cNvPicPr>
                                  <p:nvPr/>
                                </p:nvPicPr>
                                <p:blipFill>
                                  <a:blip r:embed="rId7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2302" y="1249"/>
                                    <a:ext cx="1492" cy="889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FF000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</a:extLst>
                                </p:spPr>
                              </p:pic>
                              <p:pic>
                                <p:nvPicPr>
                                  <p:cNvPr id="87" name="圖片 90">
                                    <a:extLst>
                                      <a:ext uri="{FF2B5EF4-FFF2-40B4-BE49-F238E27FC236}">
                                        <a16:creationId xmlns:a16="http://schemas.microsoft.com/office/drawing/2014/main" id="{FBA10E1F-8828-FE7F-8207-F4AFD3037E0D}"/>
                                      </a:ext>
                                    </a:extLst>
                                  </p:cNvPr>
                                  <p:cNvPicPr>
                                    <a:picLocks/>
                                  </p:cNvPicPr>
                                  <p:nvPr/>
                                </p:nvPicPr>
                                <p:blipFill>
                                  <a:blip r:embed="rId8" cstate="print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3881" y="2236"/>
                                    <a:ext cx="1492" cy="896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FF000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</a:extLst>
                                </p:spPr>
                              </p:pic>
                            </p:grpSp>
                            <p:grpSp>
                              <p:nvGrpSpPr>
                                <p:cNvPr id="75" name="群組 78">
                                  <a:extLst>
                                    <a:ext uri="{FF2B5EF4-FFF2-40B4-BE49-F238E27FC236}">
                                      <a16:creationId xmlns:a16="http://schemas.microsoft.com/office/drawing/2014/main" id="{EBC0E752-AB7E-FE85-E008-06DEF6A39676}"/>
                                    </a:ext>
                                  </a:extLst>
                                </p:cNvPr>
                                <p:cNvGrpSpPr>
                                  <a:grpSpLocks/>
                                </p:cNvGrpSpPr>
                                <p:nvPr/>
                              </p:nvGrpSpPr>
                              <p:grpSpPr bwMode="auto">
                                <a:xfrm>
                                  <a:off x="2257" y="1270"/>
                                  <a:ext cx="3071" cy="2803"/>
                                  <a:chOff x="0" y="0"/>
                                  <a:chExt cx="307107" cy="280310"/>
                                </a:xfrm>
                              </p:grpSpPr>
                              <p:pic>
                                <p:nvPicPr>
                                  <p:cNvPr id="76" name="圖片 79">
                                    <a:extLst>
                                      <a:ext uri="{FF2B5EF4-FFF2-40B4-BE49-F238E27FC236}">
                                        <a16:creationId xmlns:a16="http://schemas.microsoft.com/office/drawing/2014/main" id="{FC718B1A-53F7-1D15-82A6-01383BEFFE8E}"/>
                                      </a:ext>
                                    </a:extLst>
                                  </p:cNvPr>
                                  <p:cNvPicPr>
                                    <a:picLocks/>
                                  </p:cNvPicPr>
                                  <p:nvPr/>
                                </p:nvPicPr>
                                <p:blipFill>
                                  <a:blip r:embed="rId9" cstate="print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157882" y="190775"/>
                                    <a:ext cx="149225" cy="89535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FF000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</a:extLst>
                                </p:spPr>
                              </p:pic>
                              <p:pic>
                                <p:nvPicPr>
                                  <p:cNvPr id="77" name="圖片 80">
                                    <a:extLst>
                                      <a:ext uri="{FF2B5EF4-FFF2-40B4-BE49-F238E27FC236}">
                                        <a16:creationId xmlns:a16="http://schemas.microsoft.com/office/drawing/2014/main" id="{56A5480F-7158-3DCE-C78A-3BCD71050B6A}"/>
                                      </a:ext>
                                    </a:extLst>
                                  </p:cNvPr>
                                  <p:cNvPicPr>
                                    <a:picLocks noChangeAspect="1"/>
                                  </p:cNvPicPr>
                                  <p:nvPr/>
                                </p:nvPicPr>
                                <p:blipFill>
                                  <a:blip r:embed="rId10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0" y="98677"/>
                                    <a:ext cx="149225" cy="8890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</a:extLst>
                                </p:spPr>
                              </p:pic>
                              <p:pic>
                                <p:nvPicPr>
                                  <p:cNvPr id="78" name="圖片 81">
                                    <a:extLst>
                                      <a:ext uri="{FF2B5EF4-FFF2-40B4-BE49-F238E27FC236}">
                                        <a16:creationId xmlns:a16="http://schemas.microsoft.com/office/drawing/2014/main" id="{24E58E20-5F76-80CC-7256-727A5C62B04E}"/>
                                      </a:ext>
                                    </a:extLst>
                                  </p:cNvPr>
                                  <p:cNvPicPr>
                                    <a:picLocks/>
                                  </p:cNvPicPr>
                                  <p:nvPr/>
                                </p:nvPicPr>
                                <p:blipFill>
                                  <a:blip r:embed="rId11" cstate="print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157882" y="0"/>
                                    <a:ext cx="149225" cy="89535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solidFill>
                                      <a:srgbClr val="FF0000"/>
                                    </a:solidFill>
                                    <a:miter lim="800000"/>
                                    <a:headEnd/>
                                    <a:tailEnd/>
                                  </a:ln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</a:extLst>
                                </p:spPr>
                              </p:pic>
                            </p:grpSp>
                          </p:grpSp>
                          <p:grpSp>
                            <p:nvGrpSpPr>
                              <p:cNvPr id="70" name="群組 73">
                                <a:extLst>
                                  <a:ext uri="{FF2B5EF4-FFF2-40B4-BE49-F238E27FC236}">
                                    <a16:creationId xmlns:a16="http://schemas.microsoft.com/office/drawing/2014/main" id="{952CCF43-A777-24C1-5873-3FDAD687F33E}"/>
                                  </a:ext>
                                </a:extLst>
                              </p:cNvPr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7022" y="1052"/>
                                <a:ext cx="5221" cy="3633"/>
                                <a:chOff x="2683" y="0"/>
                                <a:chExt cx="522151" cy="363294"/>
                              </a:xfrm>
                            </p:grpSpPr>
                            <p:sp>
                              <p:nvSpPr>
                                <p:cNvPr id="72" name="矩形 75">
                                  <a:extLst>
                                    <a:ext uri="{FF2B5EF4-FFF2-40B4-BE49-F238E27FC236}">
                                      <a16:creationId xmlns:a16="http://schemas.microsoft.com/office/drawing/2014/main" id="{60149C85-E5CA-5DCC-A609-6AE05A57A9A3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52627" y="0"/>
                                  <a:ext cx="400755" cy="313071"/>
                                </a:xfrm>
                                <a:prstGeom prst="rect">
                                  <a:avLst/>
                                </a:prstGeom>
                                <a:gradFill rotWithShape="1">
                                  <a:gsLst>
                                    <a:gs pos="0">
                                      <a:srgbClr val="B5D5A7"/>
                                    </a:gs>
                                    <a:gs pos="50000">
                                      <a:srgbClr val="AACE99"/>
                                    </a:gs>
                                    <a:gs pos="100000">
                                      <a:srgbClr val="9CCA86"/>
                                    </a:gs>
                                  </a:gsLst>
                                  <a:lin ang="5400000"/>
                                </a:gradFill>
                                <a:ln w="6350">
                                  <a:solidFill>
                                    <a:schemeClr val="accent6">
                                      <a:lumMod val="100000"/>
                                      <a:lumOff val="0"/>
                                    </a:schemeClr>
                                  </a:solidFill>
                                  <a:miter lim="800000"/>
                                  <a:headEnd/>
                                  <a:tailEnd/>
                                </a:ln>
                              </p:spPr>
                              <p:txBody>
                                <a:bodyPr rot="0" vert="horz" wrap="square" lIns="91440" tIns="45720" rIns="91440" bIns="45720" anchor="ctr" anchorCtr="0" upright="1">
                                  <a:noAutofit/>
                                </a:bodyPr>
                                <a:lstStyle/>
                                <a:p>
                                  <a:endParaRPr lang="zh-TW" altLang="en-US"/>
                                </a:p>
                              </p:txBody>
                            </p:sp>
                            <p:sp>
                              <p:nvSpPr>
                                <p:cNvPr id="73" name="Text Box 37">
                                  <a:extLst>
                                    <a:ext uri="{FF2B5EF4-FFF2-40B4-BE49-F238E27FC236}">
                                      <a16:creationId xmlns:a16="http://schemas.microsoft.com/office/drawing/2014/main" id="{93517759-A7C3-1E06-7B4D-FDC9A42BD16B}"/>
                                    </a:ext>
                                  </a:extLst>
                                </p:cNvPr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683" y="7585"/>
                                  <a:ext cx="522151" cy="355709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  <p:txBody>
                                <a:bodyPr rot="0" vert="horz" wrap="square" lIns="91440" tIns="45720" rIns="91440" bIns="45720" anchor="t" anchorCtr="0" upright="1">
                                  <a:noAutofit/>
                                </a:bodyPr>
                                <a:lstStyle/>
                                <a:p>
                                  <a:pPr>
                                    <a:spcBef>
                                      <a:spcPts val="500"/>
                                    </a:spcBef>
                                    <a:spcAft>
                                      <a:spcPts val="500"/>
                                    </a:spcAft>
                                  </a:pPr>
                                  <a:r>
                                    <a:rPr lang="zh-TW" altLang="en-US" sz="1600" kern="150">
                                      <a:latin typeface="微軟正黑體" panose="020B0604030504040204" pitchFamily="34" charset="-120"/>
                                      <a:ea typeface="微軟正黑體" panose="020B0604030504040204" pitchFamily="34" charset="-120"/>
                                      <a:cs typeface="Times New Roman" panose="02020603050405020304" pitchFamily="18" charset="0"/>
                                    </a:rPr>
                                    <a:t>檢測區域定位</a:t>
                                  </a:r>
                                </a:p>
                              </p:txBody>
                            </p:sp>
                          </p:grpSp>
                          <p:cxnSp>
                            <p:nvCxnSpPr>
                              <p:cNvPr id="71" name="直線單箭頭接點 74">
                                <a:extLst>
                                  <a:ext uri="{FF2B5EF4-FFF2-40B4-BE49-F238E27FC236}">
                                    <a16:creationId xmlns:a16="http://schemas.microsoft.com/office/drawing/2014/main" id="{3F3B9B92-A96A-91BE-13C2-CA1673DEBA59}"/>
                                  </a:ext>
                                </a:extLst>
                              </p:cNvPr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>
                                <a:off x="5723" y="2828"/>
                                <a:ext cx="1800" cy="0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28575">
                                <a:solidFill>
                                  <a:schemeClr val="dk1">
                                    <a:lumMod val="100000"/>
                                    <a:lumOff val="0"/>
                                  </a:schemeClr>
                                </a:solidFill>
                                <a:miter lim="800000"/>
                                <a:headEnd/>
                                <a:tailEnd type="triangle" w="med" len="med"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noFill/>
                                  </a14:hiddenFill>
                                </a:ext>
                              </a:extLst>
                            </p:spPr>
                          </p:cxnSp>
                        </p:grpSp>
                        <p:cxnSp>
                          <p:nvCxnSpPr>
                            <p:cNvPr id="54" name="直線單箭頭接點 57">
                              <a:extLst>
                                <a:ext uri="{FF2B5EF4-FFF2-40B4-BE49-F238E27FC236}">
                                  <a16:creationId xmlns:a16="http://schemas.microsoft.com/office/drawing/2014/main" id="{CE49D5E4-A3CE-CD60-42AF-624BF758986D}"/>
                                </a:ext>
                              </a:extLst>
                            </p:cNvPr>
                            <p:cNvCxnSpPr>
                              <a:cxnSpLocks noChangeShapeType="1"/>
                            </p:cNvCxnSpPr>
                            <p:nvPr/>
                          </p:nvCxnSpPr>
                          <p:spPr bwMode="auto">
                            <a:xfrm>
                              <a:off x="11446" y="2894"/>
                              <a:ext cx="1799" cy="0"/>
                            </a:xfrm>
                            <a:prstGeom prst="straightConnector1">
                              <a:avLst/>
                            </a:prstGeom>
                            <a:noFill/>
                            <a:ln w="28575">
                              <a:solidFill>
                                <a:schemeClr val="dk1">
                                  <a:lumMod val="100000"/>
                                  <a:lumOff val="0"/>
                                </a:schemeClr>
                              </a:solidFill>
                              <a:miter lim="800000"/>
                              <a:headEnd/>
                              <a:tailEnd type="triangle" w="med" len="med"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</p:cxnSp>
                        <p:grpSp>
                          <p:nvGrpSpPr>
                            <p:cNvPr id="55" name="群組 58">
                              <a:extLst>
                                <a:ext uri="{FF2B5EF4-FFF2-40B4-BE49-F238E27FC236}">
                                  <a16:creationId xmlns:a16="http://schemas.microsoft.com/office/drawing/2014/main" id="{061CCDC8-DE90-10CB-CF9F-4DDD258A7275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12170" y="0"/>
                              <a:ext cx="6153" cy="9668"/>
                              <a:chOff x="0" y="0"/>
                              <a:chExt cx="6153" cy="9668"/>
                            </a:xfrm>
                          </p:grpSpPr>
                          <p:sp>
                            <p:nvSpPr>
                              <p:cNvPr id="56" name="圓角矩形 255">
                                <a:extLst>
                                  <a:ext uri="{FF2B5EF4-FFF2-40B4-BE49-F238E27FC236}">
                                    <a16:creationId xmlns:a16="http://schemas.microsoft.com/office/drawing/2014/main" id="{F45415E6-EF9C-0120-1797-BFECADCE6564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118" y="0"/>
                                <a:ext cx="3670" cy="5408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gradFill rotWithShape="1">
                                <a:gsLst>
                                  <a:gs pos="0">
                                    <a:srgbClr val="FFDD9C"/>
                                  </a:gs>
                                  <a:gs pos="50000">
                                    <a:srgbClr val="FFD78E"/>
                                  </a:gs>
                                  <a:gs pos="100000">
                                    <a:srgbClr val="FFD479"/>
                                  </a:gs>
                                </a:gsLst>
                                <a:lin ang="5400000"/>
                              </a:gradFill>
                              <a:ln w="6350">
                                <a:solidFill>
                                  <a:srgbClr val="0000FF"/>
                                </a:solidFill>
                                <a:miter lim="800000"/>
                                <a:headEnd/>
                                <a:tailEnd/>
                              </a:ln>
                            </p:spPr>
                            <p:txBody>
                              <a:bodyPr rot="0" vert="horz" wrap="square" lIns="91440" tIns="45720" rIns="91440" bIns="45720" anchor="ctr" anchorCtr="0" upright="1">
                                <a:noAutofit/>
                              </a:bodyPr>
                              <a:lstStyle/>
                              <a:p>
                                <a:endParaRPr lang="zh-TW" altLang="en-US"/>
                              </a:p>
                            </p:txBody>
                          </p:sp>
                          <p:grpSp>
                            <p:nvGrpSpPr>
                              <p:cNvPr id="57" name="群組 60">
                                <a:extLst>
                                  <a:ext uri="{FF2B5EF4-FFF2-40B4-BE49-F238E27FC236}">
                                    <a16:creationId xmlns:a16="http://schemas.microsoft.com/office/drawing/2014/main" id="{D7C5BF91-7D5A-994C-C57D-6492C3A1C4AB}"/>
                                  </a:ext>
                                </a:extLst>
                              </p:cNvPr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0" y="328"/>
                                <a:ext cx="6153" cy="9340"/>
                                <a:chOff x="0" y="0"/>
                                <a:chExt cx="6153" cy="9340"/>
                              </a:xfrm>
                            </p:grpSpPr>
                            <p:sp>
                              <p:nvSpPr>
                                <p:cNvPr id="58" name="Text Box 43">
                                  <a:extLst>
                                    <a:ext uri="{FF2B5EF4-FFF2-40B4-BE49-F238E27FC236}">
                                      <a16:creationId xmlns:a16="http://schemas.microsoft.com/office/drawing/2014/main" id="{04D20365-B8AA-FA08-D1D9-A95CFD7DD5E0}"/>
                                    </a:ext>
                                  </a:extLst>
                                </p:cNvPr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0" y="4996"/>
                                  <a:ext cx="6153" cy="4344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  <p:txBody>
                                <a:bodyPr rot="0" vert="horz" wrap="square" lIns="91440" tIns="45720" rIns="91440" bIns="45720" anchor="t" anchorCtr="0" upright="1">
                                  <a:noAutofit/>
                                </a:bodyPr>
                                <a:lstStyle/>
                                <a:p>
                                  <a:pPr algn="ctr">
                                    <a:spcBef>
                                      <a:spcPts val="500"/>
                                    </a:spcBef>
                                    <a:spcAft>
                                      <a:spcPts val="500"/>
                                    </a:spcAft>
                                  </a:pPr>
                                  <a:r>
                                    <a:rPr lang="zh-TW" altLang="en-US" sz="1600" kern="150">
                                      <a:latin typeface="Calibri" panose="020F0502020204030204" pitchFamily="34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a:t>檢測影像</a:t>
                                  </a:r>
                                  <a:endParaRPr lang="zh-TW" altLang="en-US" sz="1600" kern="150">
                                    <a:latin typeface="Calibri" panose="020F0502020204030204" pitchFamily="34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endParaRPr>
                                </a:p>
                                <a:p>
                                  <a:pPr algn="ctr">
                                    <a:spcBef>
                                      <a:spcPts val="500"/>
                                    </a:spcBef>
                                    <a:spcAft>
                                      <a:spcPts val="500"/>
                                    </a:spcAft>
                                  </a:pPr>
                                  <a:r>
                                    <a:rPr lang="en-US" sz="1600" i="1" kern="150">
                                      <a:latin typeface="Calibri" panose="020F0502020204030204" pitchFamily="34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a:t>C</a:t>
                                  </a:r>
                                  <a:r>
                                    <a:rPr lang="en-US" sz="1600" kern="150" baseline="-25000">
                                      <a:latin typeface="Calibri" panose="020F0502020204030204" pitchFamily="34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a:t>0</a:t>
                                  </a:r>
                                  <a:r>
                                    <a:rPr lang="en-US" sz="1600" i="1" kern="150">
                                      <a:latin typeface="Calibri" panose="020F0502020204030204" pitchFamily="34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a:t> ~ C</a:t>
                                  </a:r>
                                  <a:r>
                                    <a:rPr lang="en-US" sz="1600" kern="150" baseline="-25000">
                                      <a:latin typeface="Calibri" panose="020F0502020204030204" pitchFamily="34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a:t>9</a:t>
                                  </a:r>
                                  <a:endParaRPr lang="zh-TW" altLang="en-US" sz="1600" kern="150">
                                    <a:latin typeface="Calibri" panose="020F0502020204030204" pitchFamily="34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endParaRPr>
                                </a:p>
                              </p:txBody>
                            </p:sp>
                            <p:pic>
                              <p:nvPicPr>
                                <p:cNvPr id="59" name="圖片 62">
                                  <a:extLst>
                                    <a:ext uri="{FF2B5EF4-FFF2-40B4-BE49-F238E27FC236}">
                                      <a16:creationId xmlns:a16="http://schemas.microsoft.com/office/drawing/2014/main" id="{DC9FDD19-7500-8F59-5535-3B40ABEA9977}"/>
                                    </a:ext>
                                  </a:extLst>
                                </p:cNvPr>
                                <p:cNvPicPr>
                                  <a:picLocks/>
                                </p:cNvPicPr>
                                <p:nvPr/>
                              </p:nvPicPr>
                              <p:blipFill>
                                <a:blip r:embed="rId12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447" y="0"/>
                                  <a:ext cx="1511" cy="889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  <p:pic>
                              <p:nvPicPr>
                                <p:cNvPr id="60" name="圖片 63">
                                  <a:extLst>
                                    <a:ext uri="{FF2B5EF4-FFF2-40B4-BE49-F238E27FC236}">
                                      <a16:creationId xmlns:a16="http://schemas.microsoft.com/office/drawing/2014/main" id="{580D6281-C2AC-5EFB-6DBF-421411931AB9}"/>
                                    </a:ext>
                                  </a:extLst>
                                </p:cNvPr>
                                <p:cNvPicPr>
                                  <a:picLocks/>
                                </p:cNvPicPr>
                                <p:nvPr/>
                              </p:nvPicPr>
                              <p:blipFill>
                                <a:blip r:embed="rId13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381" y="986"/>
                                  <a:ext cx="1511" cy="889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  <p:pic>
                              <p:nvPicPr>
                                <p:cNvPr id="61" name="圖片 64">
                                  <a:extLst>
                                    <a:ext uri="{FF2B5EF4-FFF2-40B4-BE49-F238E27FC236}">
                                      <a16:creationId xmlns:a16="http://schemas.microsoft.com/office/drawing/2014/main" id="{78972F37-09B1-46A9-E5F5-454A3CD39322}"/>
                                    </a:ext>
                                  </a:extLst>
                                </p:cNvPr>
                                <p:cNvPicPr>
                                  <a:picLocks/>
                                </p:cNvPicPr>
                                <p:nvPr/>
                              </p:nvPicPr>
                              <p:blipFill>
                                <a:blip r:embed="rId1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381" y="1907"/>
                                  <a:ext cx="1511" cy="889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  <p:pic>
                              <p:nvPicPr>
                                <p:cNvPr id="62" name="圖片 65">
                                  <a:extLst>
                                    <a:ext uri="{FF2B5EF4-FFF2-40B4-BE49-F238E27FC236}">
                                      <a16:creationId xmlns:a16="http://schemas.microsoft.com/office/drawing/2014/main" id="{3F53404E-2A83-087A-A4C4-07EA6632ACB0}"/>
                                    </a:ext>
                                  </a:extLst>
                                </p:cNvPr>
                                <p:cNvPicPr>
                                  <a:picLocks/>
                                </p:cNvPicPr>
                                <p:nvPr/>
                              </p:nvPicPr>
                              <p:blipFill>
                                <a:blip r:embed="rId15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381" y="2894"/>
                                  <a:ext cx="1511" cy="889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  <p:pic>
                              <p:nvPicPr>
                                <p:cNvPr id="63" name="圖片 66">
                                  <a:extLst>
                                    <a:ext uri="{FF2B5EF4-FFF2-40B4-BE49-F238E27FC236}">
                                      <a16:creationId xmlns:a16="http://schemas.microsoft.com/office/drawing/2014/main" id="{4EE20D8D-E16D-8340-C285-97921F53410B}"/>
                                    </a:ext>
                                  </a:extLst>
                                </p:cNvPr>
                                <p:cNvPicPr>
                                  <a:picLocks/>
                                </p:cNvPicPr>
                                <p:nvPr/>
                              </p:nvPicPr>
                              <p:blipFill>
                                <a:blip r:embed="rId16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381" y="3881"/>
                                  <a:ext cx="1511" cy="889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  <p:pic>
                              <p:nvPicPr>
                                <p:cNvPr id="64" name="圖片 67">
                                  <a:extLst>
                                    <a:ext uri="{FF2B5EF4-FFF2-40B4-BE49-F238E27FC236}">
                                      <a16:creationId xmlns:a16="http://schemas.microsoft.com/office/drawing/2014/main" id="{C1125F18-AD68-9812-7EA7-71EA3DDBE81F}"/>
                                    </a:ext>
                                  </a:extLst>
                                </p:cNvPr>
                                <p:cNvPicPr>
                                  <a:picLocks/>
                                </p:cNvPicPr>
                                <p:nvPr/>
                              </p:nvPicPr>
                              <p:blipFill>
                                <a:blip r:embed="rId17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026" y="0"/>
                                  <a:ext cx="1511" cy="889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  <p:pic>
                              <p:nvPicPr>
                                <p:cNvPr id="65" name="圖片 68">
                                  <a:extLst>
                                    <a:ext uri="{FF2B5EF4-FFF2-40B4-BE49-F238E27FC236}">
                                      <a16:creationId xmlns:a16="http://schemas.microsoft.com/office/drawing/2014/main" id="{6A1A3A54-6C60-51B9-486E-C09CCE647222}"/>
                                    </a:ext>
                                  </a:extLst>
                                </p:cNvPr>
                                <p:cNvPicPr>
                                  <a:picLocks/>
                                </p:cNvPicPr>
                                <p:nvPr/>
                              </p:nvPicPr>
                              <p:blipFill>
                                <a:blip r:embed="rId18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026" y="986"/>
                                  <a:ext cx="1511" cy="889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  <p:pic>
                              <p:nvPicPr>
                                <p:cNvPr id="66" name="圖片 69">
                                  <a:extLst>
                                    <a:ext uri="{FF2B5EF4-FFF2-40B4-BE49-F238E27FC236}">
                                      <a16:creationId xmlns:a16="http://schemas.microsoft.com/office/drawing/2014/main" id="{21D55C81-2C9C-5F43-AF3F-DF067CD036BF}"/>
                                    </a:ext>
                                  </a:extLst>
                                </p:cNvPr>
                                <p:cNvPicPr>
                                  <a:picLocks/>
                                </p:cNvPicPr>
                                <p:nvPr/>
                              </p:nvPicPr>
                              <p:blipFill>
                                <a:blip r:embed="rId19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026" y="1973"/>
                                  <a:ext cx="1511" cy="889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  <p:pic>
                              <p:nvPicPr>
                                <p:cNvPr id="67" name="圖片 70">
                                  <a:extLst>
                                    <a:ext uri="{FF2B5EF4-FFF2-40B4-BE49-F238E27FC236}">
                                      <a16:creationId xmlns:a16="http://schemas.microsoft.com/office/drawing/2014/main" id="{E4C2970E-62F2-2FB9-CCC1-73F1623CA696}"/>
                                    </a:ext>
                                  </a:extLst>
                                </p:cNvPr>
                                <p:cNvPicPr>
                                  <a:picLocks/>
                                </p:cNvPicPr>
                                <p:nvPr/>
                              </p:nvPicPr>
                              <p:blipFill>
                                <a:blip r:embed="rId20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026" y="2960"/>
                                  <a:ext cx="1511" cy="889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  <p:pic>
                              <p:nvPicPr>
                                <p:cNvPr id="68" name="圖片 71">
                                  <a:extLst>
                                    <a:ext uri="{FF2B5EF4-FFF2-40B4-BE49-F238E27FC236}">
                                      <a16:creationId xmlns:a16="http://schemas.microsoft.com/office/drawing/2014/main" id="{A5E74211-5893-BB3B-6BF0-014B2566E1B0}"/>
                                    </a:ext>
                                  </a:extLst>
                                </p:cNvPr>
                                <p:cNvPicPr>
                                  <a:picLocks/>
                                </p:cNvPicPr>
                                <p:nvPr/>
                              </p:nvPicPr>
                              <p:blipFill>
                                <a:blip r:embed="rId21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3026" y="3947"/>
                                  <a:ext cx="1511" cy="889"/>
                                </a:xfrm>
                                <a:prstGeom prst="rect">
                                  <a:avLst/>
                                </a:prstGeom>
                                <a:noFill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</p:pic>
                          </p:grpSp>
                        </p:grpSp>
                      </p:grpSp>
                      <p:grpSp>
                        <p:nvGrpSpPr>
                          <p:cNvPr id="28" name="群組 25">
                            <a:extLst>
                              <a:ext uri="{FF2B5EF4-FFF2-40B4-BE49-F238E27FC236}">
                                <a16:creationId xmlns:a16="http://schemas.microsoft.com/office/drawing/2014/main" id="{6B230577-2957-4F21-4142-4EFFBA7DB3B9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9873" y="370"/>
                            <a:ext cx="4399" cy="9698"/>
                            <a:chOff x="-23" y="0"/>
                            <a:chExt cx="4399" cy="9697"/>
                          </a:xfrm>
                        </p:grpSpPr>
                        <p:grpSp>
                          <p:nvGrpSpPr>
                            <p:cNvPr id="49" name="群組 50">
                              <a:extLst>
                                <a:ext uri="{FF2B5EF4-FFF2-40B4-BE49-F238E27FC236}">
                                  <a16:creationId xmlns:a16="http://schemas.microsoft.com/office/drawing/2014/main" id="{12836629-F774-B452-9757-424B836A65C1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0" y="0"/>
                              <a:ext cx="3749" cy="9697"/>
                              <a:chOff x="0" y="0"/>
                              <a:chExt cx="3749" cy="9697"/>
                            </a:xfrm>
                          </p:grpSpPr>
                          <p:sp>
                            <p:nvSpPr>
                              <p:cNvPr id="51" name="矩形 54">
                                <a:extLst>
                                  <a:ext uri="{FF2B5EF4-FFF2-40B4-BE49-F238E27FC236}">
                                    <a16:creationId xmlns:a16="http://schemas.microsoft.com/office/drawing/2014/main" id="{453B47D2-B3F7-9D06-1055-74ABB8868B03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97" y="6512"/>
                                <a:ext cx="3552" cy="3185"/>
                              </a:xfrm>
                              <a:prstGeom prst="rect">
                                <a:avLst/>
                              </a:prstGeom>
                              <a:gradFill rotWithShape="1">
                                <a:gsLst>
                                  <a:gs pos="0">
                                    <a:srgbClr val="B1CBE9"/>
                                  </a:gs>
                                  <a:gs pos="50000">
                                    <a:srgbClr val="A3C1E5"/>
                                  </a:gs>
                                  <a:gs pos="100000">
                                    <a:srgbClr val="92B9E4"/>
                                  </a:gs>
                                </a:gsLst>
                                <a:lin ang="5400000"/>
                              </a:gradFill>
                              <a:ln w="6350">
                                <a:solidFill>
                                  <a:schemeClr val="accent1">
                                    <a:lumMod val="100000"/>
                                    <a:lumOff val="0"/>
                                  </a:schemeClr>
                                </a:solidFill>
                                <a:miter lim="800000"/>
                                <a:headEnd/>
                                <a:tailEnd/>
                              </a:ln>
                            </p:spPr>
                            <p:txBody>
                              <a:bodyPr rot="0" vert="horz" wrap="square" lIns="91440" tIns="45720" rIns="91440" bIns="45720" anchor="ctr" anchorCtr="0" upright="1">
                                <a:noAutofit/>
                              </a:bodyPr>
                              <a:lstStyle/>
                              <a:p>
                                <a:endParaRPr lang="zh-TW" altLang="en-US"/>
                              </a:p>
                            </p:txBody>
                          </p:sp>
                          <p:sp>
                            <p:nvSpPr>
                              <p:cNvPr id="52" name="矩形 55">
                                <a:extLst>
                                  <a:ext uri="{FF2B5EF4-FFF2-40B4-BE49-F238E27FC236}">
                                    <a16:creationId xmlns:a16="http://schemas.microsoft.com/office/drawing/2014/main" id="{37270392-7526-7126-E7F1-46A978611BB1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0" y="0"/>
                                <a:ext cx="3552" cy="3184"/>
                              </a:xfrm>
                              <a:prstGeom prst="rect">
                                <a:avLst/>
                              </a:prstGeom>
                              <a:gradFill rotWithShape="1">
                                <a:gsLst>
                                  <a:gs pos="0">
                                    <a:srgbClr val="B1CBE9"/>
                                  </a:gs>
                                  <a:gs pos="50000">
                                    <a:srgbClr val="A3C1E5"/>
                                  </a:gs>
                                  <a:gs pos="100000">
                                    <a:srgbClr val="92B9E4"/>
                                  </a:gs>
                                </a:gsLst>
                                <a:lin ang="5400000"/>
                              </a:gradFill>
                              <a:ln w="6350">
                                <a:solidFill>
                                  <a:schemeClr val="accent1">
                                    <a:lumMod val="100000"/>
                                    <a:lumOff val="0"/>
                                  </a:schemeClr>
                                </a:solidFill>
                                <a:miter lim="800000"/>
                                <a:headEnd/>
                                <a:tailEnd/>
                              </a:ln>
                            </p:spPr>
                            <p:txBody>
                              <a:bodyPr rot="0" vert="horz" wrap="square" lIns="91440" tIns="45720" rIns="91440" bIns="45720" anchor="ctr" anchorCtr="0" upright="1">
                                <a:noAutofit/>
                              </a:bodyPr>
                              <a:lstStyle/>
                              <a:p>
                                <a:endParaRPr lang="zh-TW" altLang="en-US"/>
                              </a:p>
                            </p:txBody>
                          </p:sp>
                        </p:grpSp>
                        <p:sp>
                          <p:nvSpPr>
                            <p:cNvPr id="50" name="Text Box 59">
                              <a:extLst>
                                <a:ext uri="{FF2B5EF4-FFF2-40B4-BE49-F238E27FC236}">
                                  <a16:creationId xmlns:a16="http://schemas.microsoft.com/office/drawing/2014/main" id="{9CA3076B-8B3F-A989-5B4D-C1862198FEC1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-23" y="201"/>
                              <a:ext cx="4399" cy="234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rot="0" vert="horz" wrap="square" lIns="91440" tIns="45720" rIns="91440" bIns="45720" anchor="t" anchorCtr="0" upright="1">
                              <a:noAutofit/>
                            </a:bodyPr>
                            <a:lstStyle/>
                            <a:p>
                              <a:pPr>
                                <a:spcBef>
                                  <a:spcPts val="500"/>
                                </a:spcBef>
                                <a:spcAft>
                                  <a:spcPts val="500"/>
                                </a:spcAft>
                              </a:pPr>
                              <a:r>
                                <a:rPr lang="zh-TW" altLang="en-US" sz="1600" kern="150">
                                  <a:latin typeface="微軟正黑體" panose="020B0604030504040204" pitchFamily="34" charset="-120"/>
                                  <a:ea typeface="微軟正黑體" panose="020B0604030504040204" pitchFamily="34" charset="-120"/>
                                  <a:cs typeface="Times New Roman" panose="02020603050405020304" pitchFamily="18" charset="0"/>
                                </a:rPr>
                                <a:t>影像預處理</a:t>
                              </a:r>
                            </a:p>
                          </p:txBody>
                        </p:sp>
                      </p:grpSp>
                      <p:grpSp>
                        <p:nvGrpSpPr>
                          <p:cNvPr id="29" name="群組 26">
                            <a:extLst>
                              <a:ext uri="{FF2B5EF4-FFF2-40B4-BE49-F238E27FC236}">
                                <a16:creationId xmlns:a16="http://schemas.microsoft.com/office/drawing/2014/main" id="{DCF1F63F-54E1-AAD6-3606-1DB236EBBD86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5114" y="254"/>
                            <a:ext cx="5374" cy="9813"/>
                            <a:chOff x="-242" y="1"/>
                            <a:chExt cx="5373" cy="9813"/>
                          </a:xfrm>
                        </p:grpSpPr>
                        <p:grpSp>
                          <p:nvGrpSpPr>
                            <p:cNvPr id="45" name="群組 44">
                              <a:extLst>
                                <a:ext uri="{FF2B5EF4-FFF2-40B4-BE49-F238E27FC236}">
                                  <a16:creationId xmlns:a16="http://schemas.microsoft.com/office/drawing/2014/main" id="{7A449721-A6CB-8E7E-C12C-F5B3F1E01CD5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0" y="65"/>
                              <a:ext cx="3746" cy="9749"/>
                              <a:chOff x="0" y="0"/>
                              <a:chExt cx="3749" cy="9752"/>
                            </a:xfrm>
                          </p:grpSpPr>
                          <p:sp>
                            <p:nvSpPr>
                              <p:cNvPr id="47" name="矩形 48">
                                <a:extLst>
                                  <a:ext uri="{FF2B5EF4-FFF2-40B4-BE49-F238E27FC236}">
                                    <a16:creationId xmlns:a16="http://schemas.microsoft.com/office/drawing/2014/main" id="{D98D6CD8-4870-B249-FAF2-3869C7990051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0" y="6512"/>
                                <a:ext cx="3749" cy="3240"/>
                              </a:xfrm>
                              <a:prstGeom prst="rect">
                                <a:avLst/>
                              </a:prstGeom>
                              <a:gradFill rotWithShape="1">
                                <a:gsLst>
                                  <a:gs pos="0">
                                    <a:srgbClr val="F7BDA4"/>
                                  </a:gs>
                                  <a:gs pos="50000">
                                    <a:srgbClr val="F5B195"/>
                                  </a:gs>
                                  <a:gs pos="100000">
                                    <a:srgbClr val="F8A581"/>
                                  </a:gs>
                                </a:gsLst>
                                <a:lin ang="5400000"/>
                              </a:gradFill>
                              <a:ln w="6350">
                                <a:solidFill>
                                  <a:schemeClr val="accent2">
                                    <a:lumMod val="100000"/>
                                    <a:lumOff val="0"/>
                                  </a:schemeClr>
                                </a:solidFill>
                                <a:miter lim="800000"/>
                                <a:headEnd/>
                                <a:tailEnd/>
                              </a:ln>
                            </p:spPr>
                            <p:txBody>
                              <a:bodyPr rot="0" vert="horz" wrap="square" lIns="91440" tIns="45720" rIns="91440" bIns="45720" anchor="ctr" anchorCtr="0" upright="1">
                                <a:noAutofit/>
                              </a:bodyPr>
                              <a:lstStyle/>
                              <a:p>
                                <a:endParaRPr lang="zh-TW" altLang="en-US"/>
                              </a:p>
                            </p:txBody>
                          </p:sp>
                          <p:sp>
                            <p:nvSpPr>
                              <p:cNvPr id="48" name="矩形 49">
                                <a:extLst>
                                  <a:ext uri="{FF2B5EF4-FFF2-40B4-BE49-F238E27FC236}">
                                    <a16:creationId xmlns:a16="http://schemas.microsoft.com/office/drawing/2014/main" id="{10DDD3BC-61C0-73B1-74B7-F2FBCCC6AC60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0" y="0"/>
                                <a:ext cx="3749" cy="3240"/>
                              </a:xfrm>
                              <a:prstGeom prst="rect">
                                <a:avLst/>
                              </a:prstGeom>
                              <a:gradFill rotWithShape="1">
                                <a:gsLst>
                                  <a:gs pos="0">
                                    <a:srgbClr val="F7BDA4"/>
                                  </a:gs>
                                  <a:gs pos="50000">
                                    <a:srgbClr val="F5B195"/>
                                  </a:gs>
                                  <a:gs pos="100000">
                                    <a:srgbClr val="F8A581"/>
                                  </a:gs>
                                </a:gsLst>
                                <a:lin ang="5400000"/>
                              </a:gradFill>
                              <a:ln w="6350">
                                <a:solidFill>
                                  <a:schemeClr val="accent2">
                                    <a:lumMod val="100000"/>
                                    <a:lumOff val="0"/>
                                  </a:schemeClr>
                                </a:solidFill>
                                <a:miter lim="800000"/>
                                <a:headEnd/>
                                <a:tailEnd/>
                              </a:ln>
                            </p:spPr>
                            <p:txBody>
                              <a:bodyPr rot="0" vert="horz" wrap="square" lIns="91440" tIns="45720" rIns="91440" bIns="45720" anchor="ctr" anchorCtr="0" upright="1">
                                <a:noAutofit/>
                              </a:bodyPr>
                              <a:lstStyle/>
                              <a:p>
                                <a:endParaRPr lang="zh-TW" altLang="en-US"/>
                              </a:p>
                            </p:txBody>
                          </p:sp>
                        </p:grpSp>
                        <p:sp>
                          <p:nvSpPr>
                            <p:cNvPr id="46" name="Text Box 66">
                              <a:extLst>
                                <a:ext uri="{FF2B5EF4-FFF2-40B4-BE49-F238E27FC236}">
                                  <a16:creationId xmlns:a16="http://schemas.microsoft.com/office/drawing/2014/main" id="{7485B381-FA3E-8AFA-EE44-B6F7F6BE371F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-242" y="1"/>
                              <a:ext cx="5373" cy="374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rot="0" vert="horz" wrap="square" lIns="91440" tIns="45720" rIns="91440" bIns="45720" anchor="t" anchorCtr="0" upright="1">
                              <a:noAutofit/>
                            </a:bodyPr>
                            <a:lstStyle/>
                            <a:p>
                              <a:pPr>
                                <a:spcBef>
                                  <a:spcPts val="500"/>
                                </a:spcBef>
                                <a:spcAft>
                                  <a:spcPts val="500"/>
                                </a:spcAft>
                              </a:pPr>
                              <a:r>
                                <a:rPr lang="zh-TW" altLang="en-US" sz="1400" kern="150">
                                  <a:latin typeface="微軟正黑體" panose="020B0604030504040204" pitchFamily="34" charset="-120"/>
                                  <a:ea typeface="微軟正黑體" panose="020B0604030504040204" pitchFamily="34" charset="-120"/>
                                  <a:cs typeface="Times New Roman" panose="02020603050405020304" pitchFamily="18" charset="0"/>
                                </a:rPr>
                                <a:t>數據平衡</a:t>
                              </a:r>
                              <a:endParaRPr lang="en-US" altLang="zh-TW" sz="1400" kern="150">
                                <a:latin typeface="微軟正黑體" panose="020B0604030504040204" pitchFamily="34" charset="-120"/>
                                <a:ea typeface="微軟正黑體" panose="020B0604030504040204" pitchFamily="34" charset="-120"/>
                                <a:cs typeface="Times New Roman" panose="02020603050405020304" pitchFamily="18" charset="0"/>
                              </a:endParaRPr>
                            </a:p>
                            <a:p>
                              <a:pPr>
                                <a:spcBef>
                                  <a:spcPts val="500"/>
                                </a:spcBef>
                                <a:spcAft>
                                  <a:spcPts val="500"/>
                                </a:spcAft>
                              </a:pPr>
                              <a:r>
                                <a:rPr lang="zh-TW" altLang="en-US" sz="1400" kern="150">
                                  <a:latin typeface="微軟正黑體" panose="020B0604030504040204" pitchFamily="34" charset="-120"/>
                                  <a:ea typeface="微軟正黑體" panose="020B0604030504040204" pitchFamily="34" charset="-120"/>
                                  <a:cs typeface="Times New Roman" panose="02020603050405020304" pitchFamily="18" charset="0"/>
                                </a:rPr>
                                <a:t>處理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0" name="Text Box 68">
                            <a:extLst>
                              <a:ext uri="{FF2B5EF4-FFF2-40B4-BE49-F238E27FC236}">
                                <a16:creationId xmlns:a16="http://schemas.microsoft.com/office/drawing/2014/main" id="{5DB1728F-9140-6A41-F767-BB49AF8325D6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8906" y="1250"/>
                            <a:ext cx="11788" cy="22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0" vert="horz" wrap="square" lIns="91440" tIns="45720" rIns="91440" bIns="45720" anchor="t" anchorCtr="0" upright="1">
                            <a:noAutofit/>
                          </a:bodyPr>
                          <a:lstStyle/>
                          <a:p>
                            <a:pPr>
                              <a:spcBef>
                                <a:spcPts val="500"/>
                              </a:spcBef>
                              <a:spcAft>
                                <a:spcPts val="500"/>
                              </a:spcAft>
                            </a:pPr>
                            <a:r>
                              <a:rPr lang="zh-TW" altLang="en-US" sz="1600" kern="150">
                                <a:latin typeface="微軟正黑體" panose="020B0604030504040204" pitchFamily="34" charset="-120"/>
                                <a:ea typeface="微軟正黑體" panose="020B0604030504040204" pitchFamily="34" charset="-120"/>
                                <a:cs typeface="Times New Roman" panose="02020603050405020304" pitchFamily="18" charset="0"/>
                              </a:rPr>
                              <a:t>線型</a:t>
                            </a:r>
                            <a:r>
                              <a:rPr lang="en-US" sz="1600" kern="150">
                                <a:latin typeface="微軟正黑體" panose="020B0604030504040204" pitchFamily="34" charset="-120"/>
                                <a:ea typeface="微軟正黑體" panose="020B0604030504040204" pitchFamily="34" charset="-120"/>
                                <a:cs typeface="Times New Roman" panose="02020603050405020304" pitchFamily="18" charset="0"/>
                              </a:rPr>
                              <a:t>/</a:t>
                            </a:r>
                            <a:r>
                              <a:rPr lang="zh-TW" altLang="en-US" sz="1600" kern="150">
                                <a:latin typeface="微軟正黑體" panose="020B0604030504040204" pitchFamily="34" charset="-120"/>
                                <a:ea typeface="微軟正黑體" panose="020B0604030504040204" pitchFamily="34" charset="-120"/>
                                <a:cs typeface="Times New Roman" panose="02020603050405020304" pitchFamily="18" charset="0"/>
                              </a:rPr>
                              <a:t>區域型瑕疵類別</a:t>
                            </a:r>
                          </a:p>
                        </p:txBody>
                      </p:sp>
                      <p:sp>
                        <p:nvSpPr>
                          <p:cNvPr id="31" name="Text Box 69">
                            <a:extLst>
                              <a:ext uri="{FF2B5EF4-FFF2-40B4-BE49-F238E27FC236}">
                                <a16:creationId xmlns:a16="http://schemas.microsoft.com/office/drawing/2014/main" id="{D6A90CA0-1AA4-AD2F-9577-FB409308ED6B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1356" y="7623"/>
                            <a:ext cx="7241" cy="22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rot="0" vert="horz" wrap="square" lIns="91440" tIns="45720" rIns="91440" bIns="45720" anchor="t" anchorCtr="0" upright="1">
                            <a:noAutofit/>
                          </a:bodyPr>
                          <a:lstStyle/>
                          <a:p>
                            <a:pPr>
                              <a:spcBef>
                                <a:spcPts val="500"/>
                              </a:spcBef>
                              <a:spcAft>
                                <a:spcPts val="500"/>
                              </a:spcAft>
                            </a:pPr>
                            <a:r>
                              <a:rPr lang="zh-TW" altLang="en-US" sz="1600" kern="150">
                                <a:latin typeface="微軟正黑體" panose="020B0604030504040204" pitchFamily="34" charset="-120"/>
                                <a:ea typeface="微軟正黑體" panose="020B0604030504040204" pitchFamily="34" charset="-120"/>
                                <a:cs typeface="Times New Roman" panose="02020603050405020304" pitchFamily="18" charset="0"/>
                              </a:rPr>
                              <a:t>點型瑕疵類別</a:t>
                            </a:r>
                          </a:p>
                        </p:txBody>
                      </p:sp>
                      <p:grpSp>
                        <p:nvGrpSpPr>
                          <p:cNvPr id="32" name="群組 29">
                            <a:extLst>
                              <a:ext uri="{FF2B5EF4-FFF2-40B4-BE49-F238E27FC236}">
                                <a16:creationId xmlns:a16="http://schemas.microsoft.com/office/drawing/2014/main" id="{D38AF5DB-2DB5-50FB-F817-EA3ED2F5EE5F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0545" y="296"/>
                            <a:ext cx="5371" cy="9750"/>
                            <a:chOff x="-265" y="65"/>
                            <a:chExt cx="5371" cy="9749"/>
                          </a:xfrm>
                        </p:grpSpPr>
                        <p:grpSp>
                          <p:nvGrpSpPr>
                            <p:cNvPr id="41" name="群組 38">
                              <a:extLst>
                                <a:ext uri="{FF2B5EF4-FFF2-40B4-BE49-F238E27FC236}">
                                  <a16:creationId xmlns:a16="http://schemas.microsoft.com/office/drawing/2014/main" id="{7DD8BE61-5F0D-2DDE-6C4F-C8D144F317B4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0" y="65"/>
                              <a:ext cx="3746" cy="9749"/>
                              <a:chOff x="0" y="0"/>
                              <a:chExt cx="3749" cy="9752"/>
                            </a:xfrm>
                          </p:grpSpPr>
                          <p:sp>
                            <p:nvSpPr>
                              <p:cNvPr id="43" name="矩形 42">
                                <a:extLst>
                                  <a:ext uri="{FF2B5EF4-FFF2-40B4-BE49-F238E27FC236}">
                                    <a16:creationId xmlns:a16="http://schemas.microsoft.com/office/drawing/2014/main" id="{6D73E8F9-5289-4BB9-26D5-0A279BC71083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0" y="6512"/>
                                <a:ext cx="3749" cy="3240"/>
                              </a:xfrm>
                              <a:prstGeom prst="rect">
                                <a:avLst/>
                              </a:prstGeom>
                              <a:gradFill rotWithShape="1">
                                <a:gsLst>
                                  <a:gs pos="0">
                                    <a:srgbClr val="FFDD9C"/>
                                  </a:gs>
                                  <a:gs pos="50000">
                                    <a:srgbClr val="FFD78E"/>
                                  </a:gs>
                                  <a:gs pos="100000">
                                    <a:srgbClr val="FFD479"/>
                                  </a:gs>
                                </a:gsLst>
                                <a:lin ang="5400000"/>
                              </a:gradFill>
                              <a:ln w="6350">
                                <a:solidFill>
                                  <a:schemeClr val="accent4">
                                    <a:lumMod val="100000"/>
                                    <a:lumOff val="0"/>
                                  </a:schemeClr>
                                </a:solidFill>
                                <a:miter lim="800000"/>
                                <a:headEnd/>
                                <a:tailEnd/>
                              </a:ln>
                            </p:spPr>
                            <p:txBody>
                              <a:bodyPr rot="0" vert="horz" wrap="square" lIns="91440" tIns="45720" rIns="91440" bIns="45720" anchor="ctr" anchorCtr="0" upright="1">
                                <a:noAutofit/>
                              </a:bodyPr>
                              <a:lstStyle/>
                              <a:p>
                                <a:endParaRPr lang="zh-TW" altLang="en-US"/>
                              </a:p>
                            </p:txBody>
                          </p:sp>
                          <p:sp>
                            <p:nvSpPr>
                              <p:cNvPr id="44" name="矩形 43">
                                <a:extLst>
                                  <a:ext uri="{FF2B5EF4-FFF2-40B4-BE49-F238E27FC236}">
                                    <a16:creationId xmlns:a16="http://schemas.microsoft.com/office/drawing/2014/main" id="{CF6D1CB6-EABD-8CA5-7B34-94D3560BF402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0" y="0"/>
                                <a:ext cx="3749" cy="3240"/>
                              </a:xfrm>
                              <a:prstGeom prst="rect">
                                <a:avLst/>
                              </a:prstGeom>
                              <a:gradFill rotWithShape="1">
                                <a:gsLst>
                                  <a:gs pos="0">
                                    <a:srgbClr val="FFDD9C"/>
                                  </a:gs>
                                  <a:gs pos="50000">
                                    <a:srgbClr val="FFD78E"/>
                                  </a:gs>
                                  <a:gs pos="100000">
                                    <a:srgbClr val="FFD479"/>
                                  </a:gs>
                                </a:gsLst>
                                <a:lin ang="5400000"/>
                              </a:gradFill>
                              <a:ln w="6350">
                                <a:solidFill>
                                  <a:schemeClr val="accent4">
                                    <a:lumMod val="100000"/>
                                    <a:lumOff val="0"/>
                                  </a:schemeClr>
                                </a:solidFill>
                                <a:miter lim="800000"/>
                                <a:headEnd/>
                                <a:tailEnd/>
                              </a:ln>
                            </p:spPr>
                            <p:txBody>
                              <a:bodyPr rot="0" vert="horz" wrap="square" lIns="91440" tIns="45720" rIns="91440" bIns="45720" anchor="ctr" anchorCtr="0" upright="1">
                                <a:noAutofit/>
                              </a:bodyPr>
                              <a:lstStyle/>
                              <a:p>
                                <a:endParaRPr lang="zh-TW" altLang="en-US"/>
                              </a:p>
                            </p:txBody>
                          </p:sp>
                        </p:grpSp>
                        <p:sp>
                          <p:nvSpPr>
                            <p:cNvPr id="42" name="Text Box 75">
                              <a:extLst>
                                <a:ext uri="{FF2B5EF4-FFF2-40B4-BE49-F238E27FC236}">
                                  <a16:creationId xmlns:a16="http://schemas.microsoft.com/office/drawing/2014/main" id="{D2C257B1-3D80-0ECD-9B3D-3942425E896B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-265" y="65"/>
                              <a:ext cx="5371" cy="387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rot="0" vert="horz" wrap="square" lIns="91440" tIns="45720" rIns="91440" bIns="45720" anchor="t" anchorCtr="0" upright="1">
                              <a:noAutofit/>
                            </a:bodyPr>
                            <a:lstStyle/>
                            <a:p>
                              <a:pPr>
                                <a:spcBef>
                                  <a:spcPts val="500"/>
                                </a:spcBef>
                                <a:spcAft>
                                  <a:spcPts val="500"/>
                                </a:spcAft>
                              </a:pPr>
                              <a:r>
                                <a:rPr lang="zh-TW" altLang="en-US" sz="1400" kern="150">
                                  <a:latin typeface="微軟正黑體" panose="020B0604030504040204" pitchFamily="34" charset="-120"/>
                                  <a:ea typeface="微軟正黑體" panose="020B0604030504040204" pitchFamily="34" charset="-120"/>
                                  <a:cs typeface="Times New Roman" panose="02020603050405020304" pitchFamily="18" charset="0"/>
                                </a:rPr>
                                <a:t>建構網路</a:t>
                              </a:r>
                              <a:endParaRPr lang="en-US" altLang="zh-TW" sz="1400" kern="150">
                                <a:latin typeface="微軟正黑體" panose="020B0604030504040204" pitchFamily="34" charset="-120"/>
                                <a:ea typeface="微軟正黑體" panose="020B0604030504040204" pitchFamily="34" charset="-120"/>
                                <a:cs typeface="Times New Roman" panose="02020603050405020304" pitchFamily="18" charset="0"/>
                              </a:endParaRPr>
                            </a:p>
                            <a:p>
                              <a:pPr>
                                <a:spcBef>
                                  <a:spcPts val="500"/>
                                </a:spcBef>
                                <a:spcAft>
                                  <a:spcPts val="500"/>
                                </a:spcAft>
                              </a:pPr>
                              <a:r>
                                <a:rPr lang="zh-TW" altLang="en-US" sz="1400" kern="150">
                                  <a:latin typeface="微軟正黑體" panose="020B0604030504040204" pitchFamily="34" charset="-120"/>
                                  <a:ea typeface="微軟正黑體" panose="020B0604030504040204" pitchFamily="34" charset="-120"/>
                                  <a:cs typeface="Times New Roman" panose="02020603050405020304" pitchFamily="18" charset="0"/>
                                </a:rPr>
                                <a:t>模型</a:t>
                              </a:r>
                            </a:p>
                          </p:txBody>
                        </p:sp>
                      </p:grpSp>
                      <p:cxnSp>
                        <p:nvCxnSpPr>
                          <p:cNvPr id="33" name="直線單箭頭接點 30">
                            <a:extLst>
                              <a:ext uri="{FF2B5EF4-FFF2-40B4-BE49-F238E27FC236}">
                                <a16:creationId xmlns:a16="http://schemas.microsoft.com/office/drawing/2014/main" id="{DDC104F1-B721-19F2-A8D8-CFCEEBDF629A}"/>
                              </a:ext>
                            </a:extLst>
                          </p:cNvPr>
                          <p:cNvCxnSpPr>
                            <a:cxnSpLocks noChangeShapeType="1"/>
                          </p:cNvCxnSpPr>
                          <p:nvPr/>
                        </p:nvCxnSpPr>
                        <p:spPr bwMode="auto">
                          <a:xfrm>
                            <a:off x="18118" y="2032"/>
                            <a:ext cx="1800" cy="0"/>
                          </a:xfrm>
                          <a:prstGeom prst="straightConnector1">
                            <a:avLst/>
                          </a:prstGeom>
                          <a:noFill/>
                          <a:ln w="28575">
                            <a:solidFill>
                              <a:schemeClr val="dk1">
                                <a:lumMod val="100000"/>
                                <a:lumOff val="0"/>
                              </a:schemeClr>
                            </a:solidFill>
                            <a:miter lim="800000"/>
                            <a:headEnd/>
                            <a:tailEnd type="triangle" w="med" len="med"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</p:cxnSp>
                      <p:cxnSp>
                        <p:nvCxnSpPr>
                          <p:cNvPr id="34" name="直線單箭頭接點 31">
                            <a:extLst>
                              <a:ext uri="{FF2B5EF4-FFF2-40B4-BE49-F238E27FC236}">
                                <a16:creationId xmlns:a16="http://schemas.microsoft.com/office/drawing/2014/main" id="{E25AB947-9C80-5173-35F7-4689334168EB}"/>
                              </a:ext>
                            </a:extLst>
                          </p:cNvPr>
                          <p:cNvCxnSpPr>
                            <a:cxnSpLocks noChangeShapeType="1"/>
                          </p:cNvCxnSpPr>
                          <p:nvPr/>
                        </p:nvCxnSpPr>
                        <p:spPr bwMode="auto">
                          <a:xfrm>
                            <a:off x="18323" y="8575"/>
                            <a:ext cx="1797" cy="0"/>
                          </a:xfrm>
                          <a:prstGeom prst="straightConnector1">
                            <a:avLst/>
                          </a:prstGeom>
                          <a:noFill/>
                          <a:ln w="28575">
                            <a:solidFill>
                              <a:schemeClr val="dk1">
                                <a:lumMod val="100000"/>
                                <a:lumOff val="0"/>
                              </a:schemeClr>
                            </a:solidFill>
                            <a:miter lim="800000"/>
                            <a:headEnd/>
                            <a:tailEnd type="triangle" w="med" len="med"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</p:cxnSp>
                      <p:cxnSp>
                        <p:nvCxnSpPr>
                          <p:cNvPr id="35" name="直線單箭頭接點 32">
                            <a:extLst>
                              <a:ext uri="{FF2B5EF4-FFF2-40B4-BE49-F238E27FC236}">
                                <a16:creationId xmlns:a16="http://schemas.microsoft.com/office/drawing/2014/main" id="{7CA265D0-8B88-C052-43D0-F568425A1C97}"/>
                              </a:ext>
                            </a:extLst>
                          </p:cNvPr>
                          <p:cNvCxnSpPr>
                            <a:cxnSpLocks noChangeShapeType="1"/>
                          </p:cNvCxnSpPr>
                          <p:nvPr/>
                        </p:nvCxnSpPr>
                        <p:spPr bwMode="auto">
                          <a:xfrm>
                            <a:off x="23579" y="2032"/>
                            <a:ext cx="1800" cy="0"/>
                          </a:xfrm>
                          <a:prstGeom prst="straightConnector1">
                            <a:avLst/>
                          </a:prstGeom>
                          <a:noFill/>
                          <a:ln w="28575">
                            <a:solidFill>
                              <a:schemeClr val="dk1">
                                <a:lumMod val="100000"/>
                                <a:lumOff val="0"/>
                              </a:schemeClr>
                            </a:solidFill>
                            <a:miter lim="800000"/>
                            <a:headEnd/>
                            <a:tailEnd type="triangle" w="med" len="med"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</p:cxnSp>
                      <p:cxnSp>
                        <p:nvCxnSpPr>
                          <p:cNvPr id="36" name="直線單箭頭接點 33">
                            <a:extLst>
                              <a:ext uri="{FF2B5EF4-FFF2-40B4-BE49-F238E27FC236}">
                                <a16:creationId xmlns:a16="http://schemas.microsoft.com/office/drawing/2014/main" id="{2EF241F4-61FD-67D6-7F0E-3E7C1B0FE7EE}"/>
                              </a:ext>
                            </a:extLst>
                          </p:cNvPr>
                          <p:cNvCxnSpPr>
                            <a:cxnSpLocks noChangeShapeType="1"/>
                          </p:cNvCxnSpPr>
                          <p:nvPr/>
                        </p:nvCxnSpPr>
                        <p:spPr bwMode="auto">
                          <a:xfrm>
                            <a:off x="23622" y="8509"/>
                            <a:ext cx="1799" cy="0"/>
                          </a:xfrm>
                          <a:prstGeom prst="straightConnector1">
                            <a:avLst/>
                          </a:prstGeom>
                          <a:noFill/>
                          <a:ln w="28575">
                            <a:solidFill>
                              <a:schemeClr val="dk1">
                                <a:lumMod val="100000"/>
                                <a:lumOff val="0"/>
                              </a:schemeClr>
                            </a:solidFill>
                            <a:miter lim="800000"/>
                            <a:headEnd/>
                            <a:tailEnd type="triangle" w="med" len="med"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</p:cxnSp>
                      <p:cxnSp>
                        <p:nvCxnSpPr>
                          <p:cNvPr id="37" name="直線接點 34">
                            <a:extLst>
                              <a:ext uri="{FF2B5EF4-FFF2-40B4-BE49-F238E27FC236}">
                                <a16:creationId xmlns:a16="http://schemas.microsoft.com/office/drawing/2014/main" id="{05B7ECB5-5AE9-1DB0-C0D7-C0BDFD5D34E6}"/>
                              </a:ext>
                            </a:extLst>
                          </p:cNvPr>
                          <p:cNvCxnSpPr>
                            <a:cxnSpLocks noChangeShapeType="1"/>
                          </p:cNvCxnSpPr>
                          <p:nvPr/>
                        </p:nvCxnSpPr>
                        <p:spPr bwMode="auto">
                          <a:xfrm>
                            <a:off x="18245" y="1905"/>
                            <a:ext cx="0" cy="6840"/>
                          </a:xfrm>
                          <a:prstGeom prst="line">
                            <a:avLst/>
                          </a:prstGeom>
                          <a:noFill/>
                          <a:ln w="28575">
                            <a:solidFill>
                              <a:schemeClr val="dk1">
                                <a:lumMod val="100000"/>
                                <a:lumOff val="0"/>
                              </a:schemeClr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</p:cxnSp>
                      <p:cxnSp>
                        <p:nvCxnSpPr>
                          <p:cNvPr id="38" name="直線接點 35">
                            <a:extLst>
                              <a:ext uri="{FF2B5EF4-FFF2-40B4-BE49-F238E27FC236}">
                                <a16:creationId xmlns:a16="http://schemas.microsoft.com/office/drawing/2014/main" id="{AF6CA565-1DC8-C0A7-4936-C4959A007E17}"/>
                              </a:ext>
                            </a:extLst>
                          </p:cNvPr>
                          <p:cNvCxnSpPr>
                            <a:cxnSpLocks noChangeShapeType="1"/>
                          </p:cNvCxnSpPr>
                          <p:nvPr/>
                        </p:nvCxnSpPr>
                        <p:spPr bwMode="auto">
                          <a:xfrm>
                            <a:off x="16975" y="5249"/>
                            <a:ext cx="1364" cy="0"/>
                          </a:xfrm>
                          <a:prstGeom prst="line">
                            <a:avLst/>
                          </a:prstGeom>
                          <a:noFill/>
                          <a:ln w="28575">
                            <a:solidFill>
                              <a:schemeClr val="dk1">
                                <a:lumMod val="100000"/>
                                <a:lumOff val="0"/>
                              </a:schemeClr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</p:cxnSp>
                      <p:cxnSp>
                        <p:nvCxnSpPr>
                          <p:cNvPr id="39" name="直線單箭頭接點 36">
                            <a:extLst>
                              <a:ext uri="{FF2B5EF4-FFF2-40B4-BE49-F238E27FC236}">
                                <a16:creationId xmlns:a16="http://schemas.microsoft.com/office/drawing/2014/main" id="{70455171-3F3D-2A89-DE23-F6AAF0293C3A}"/>
                              </a:ext>
                            </a:extLst>
                          </p:cNvPr>
                          <p:cNvCxnSpPr>
                            <a:cxnSpLocks noChangeShapeType="1"/>
                          </p:cNvCxnSpPr>
                          <p:nvPr/>
                        </p:nvCxnSpPr>
                        <p:spPr bwMode="auto">
                          <a:xfrm>
                            <a:off x="34586" y="2103"/>
                            <a:ext cx="4320" cy="0"/>
                          </a:xfrm>
                          <a:prstGeom prst="straightConnector1">
                            <a:avLst/>
                          </a:prstGeom>
                          <a:noFill/>
                          <a:ln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 type="triangle" w="med" len="med"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</p:cxnSp>
                      <p:cxnSp>
                        <p:nvCxnSpPr>
                          <p:cNvPr id="40" name="直線單箭頭接點 37">
                            <a:extLst>
                              <a:ext uri="{FF2B5EF4-FFF2-40B4-BE49-F238E27FC236}">
                                <a16:creationId xmlns:a16="http://schemas.microsoft.com/office/drawing/2014/main" id="{38E9E77C-B36A-32E2-AFAC-D9D7CF13F8FA}"/>
                              </a:ext>
                            </a:extLst>
                          </p:cNvPr>
                          <p:cNvCxnSpPr>
                            <a:cxnSpLocks noChangeShapeType="1"/>
                          </p:cNvCxnSpPr>
                          <p:nvPr/>
                        </p:nvCxnSpPr>
                        <p:spPr bwMode="auto">
                          <a:xfrm>
                            <a:off x="34556" y="8535"/>
                            <a:ext cx="7099" cy="0"/>
                          </a:xfrm>
                          <a:prstGeom prst="straightConnector1">
                            <a:avLst/>
                          </a:prstGeom>
                          <a:noFill/>
                          <a:ln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 type="triangle" w="med" len="med"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</p:cxnSp>
                    </p:grpSp>
                  </p:grpSp>
                </p:grpSp>
              </p:grpSp>
              <p:sp>
                <p:nvSpPr>
                  <p:cNvPr id="18" name="Text Box 89">
                    <a:extLst>
                      <a:ext uri="{FF2B5EF4-FFF2-40B4-BE49-F238E27FC236}">
                        <a16:creationId xmlns:a16="http://schemas.microsoft.com/office/drawing/2014/main" id="{AA69A859-EF69-4235-D537-82203CF82A4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952" y="-203"/>
                    <a:ext cx="13513" cy="238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pPr indent="203195">
                      <a:spcBef>
                        <a:spcPts val="500"/>
                      </a:spcBef>
                      <a:spcAft>
                        <a:spcPts val="500"/>
                      </a:spcAft>
                    </a:pPr>
                    <a:r>
                      <a:rPr lang="zh-TW" altLang="en-US" sz="1600" b="1" kern="15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t>宏觀瑕疵偵測與辨識</a:t>
                    </a:r>
                    <a:endParaRPr lang="zh-TW" altLang="en-US" sz="1600" kern="150"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" name="Text Box 90">
                    <a:extLst>
                      <a:ext uri="{FF2B5EF4-FFF2-40B4-BE49-F238E27FC236}">
                        <a16:creationId xmlns:a16="http://schemas.microsoft.com/office/drawing/2014/main" id="{877C4CB6-EB5F-67E0-69A1-6EBF5D376FA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671" y="15034"/>
                    <a:ext cx="13513" cy="20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pPr indent="203195">
                      <a:spcBef>
                        <a:spcPts val="500"/>
                      </a:spcBef>
                      <a:spcAft>
                        <a:spcPts val="500"/>
                      </a:spcAft>
                    </a:pPr>
                    <a:r>
                      <a:rPr lang="zh-TW" altLang="en-US" sz="1600" b="1" kern="15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rPr>
                      <a:t>微觀瑕疵偵測與辨識</a:t>
                    </a:r>
                    <a:endParaRPr lang="zh-TW" altLang="en-US" sz="1600" kern="150"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6" name="Text Box 91">
                  <a:extLst>
                    <a:ext uri="{FF2B5EF4-FFF2-40B4-BE49-F238E27FC236}">
                      <a16:creationId xmlns:a16="http://schemas.microsoft.com/office/drawing/2014/main" id="{B5FD97A1-1ACE-4443-F8E5-60AA6B5952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409" y="6738"/>
                  <a:ext cx="3585" cy="13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>
                    <a:spcBef>
                      <a:spcPts val="500"/>
                    </a:spcBef>
                    <a:spcAft>
                      <a:spcPts val="500"/>
                    </a:spcAft>
                  </a:pPr>
                  <a:r>
                    <a:rPr lang="en-US" sz="1400" kern="150">
                      <a:solidFill>
                        <a:srgbClr val="FF0000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rPr>
                    <a:t>SMOTE</a:t>
                  </a:r>
                  <a:endParaRPr lang="zh-TW" altLang="en-US" sz="1400" kern="150">
                    <a:latin typeface="Calibri" panose="020F050202020403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  <a:p>
                  <a:pPr>
                    <a:spcBef>
                      <a:spcPts val="500"/>
                    </a:spcBef>
                    <a:spcAft>
                      <a:spcPts val="500"/>
                    </a:spcAft>
                  </a:pPr>
                  <a:r>
                    <a:rPr lang="en-US" sz="1400" kern="150">
                      <a:solidFill>
                        <a:srgbClr val="FF0000"/>
                      </a:solidFill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rPr>
                    <a:t> </a:t>
                  </a:r>
                  <a:endParaRPr lang="zh-TW" altLang="en-US" sz="1400" kern="150">
                    <a:latin typeface="Calibri" panose="020F050202020403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" name="Text Box 92">
                <a:extLst>
                  <a:ext uri="{FF2B5EF4-FFF2-40B4-BE49-F238E27FC236}">
                    <a16:creationId xmlns:a16="http://schemas.microsoft.com/office/drawing/2014/main" id="{89FD9AE3-7FA6-6F44-1197-E87824270E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9" y="6598"/>
                <a:ext cx="4451" cy="1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sz="1600" kern="150">
                    <a:solidFill>
                      <a:srgbClr val="FF0000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CNNs</a:t>
                </a:r>
                <a:endParaRPr lang="zh-TW" altLang="en-US" sz="1600" kern="150"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" name="Text Box 59">
              <a:extLst>
                <a:ext uri="{FF2B5EF4-FFF2-40B4-BE49-F238E27FC236}">
                  <a16:creationId xmlns:a16="http://schemas.microsoft.com/office/drawing/2014/main" id="{BC7D2D70-C015-6ED9-463B-4A35F71D2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410" y="3865879"/>
              <a:ext cx="881871" cy="437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spcBef>
                  <a:spcPts val="500"/>
                </a:spcBef>
                <a:spcAft>
                  <a:spcPts val="500"/>
                </a:spcAft>
              </a:pPr>
              <a:r>
                <a:rPr lang="zh-TW" altLang="en-US" sz="1600" kern="15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影像預處理</a:t>
              </a:r>
            </a:p>
          </p:txBody>
        </p:sp>
        <p:sp>
          <p:nvSpPr>
            <p:cNvPr id="8" name="Text Box 66">
              <a:extLst>
                <a:ext uri="{FF2B5EF4-FFF2-40B4-BE49-F238E27FC236}">
                  <a16:creationId xmlns:a16="http://schemas.microsoft.com/office/drawing/2014/main" id="{BCC6E2CB-81B3-E16E-053D-F59B69162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4353" y="3814108"/>
              <a:ext cx="1077259" cy="695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spcBef>
                  <a:spcPts val="500"/>
                </a:spcBef>
                <a:spcAft>
                  <a:spcPts val="500"/>
                </a:spcAft>
              </a:pPr>
              <a:r>
                <a:rPr lang="zh-TW" altLang="en-US" sz="1400" kern="15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數據平衡</a:t>
              </a:r>
              <a:endParaRPr lang="en-US" altLang="zh-TW" sz="1400" kern="15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>
                <a:spcBef>
                  <a:spcPts val="500"/>
                </a:spcBef>
                <a:spcAft>
                  <a:spcPts val="500"/>
                </a:spcAft>
              </a:pPr>
              <a:r>
                <a:rPr lang="zh-TW" altLang="en-US" sz="1400" kern="15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處理</a:t>
              </a:r>
            </a:p>
          </p:txBody>
        </p:sp>
        <p:sp>
          <p:nvSpPr>
            <p:cNvPr id="10" name="Text Box 91">
              <a:extLst>
                <a:ext uri="{FF2B5EF4-FFF2-40B4-BE49-F238E27FC236}">
                  <a16:creationId xmlns:a16="http://schemas.microsoft.com/office/drawing/2014/main" id="{A171CD5A-14A6-4947-3222-AE5E2F3F8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1402" y="4417654"/>
              <a:ext cx="718679" cy="2595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spcBef>
                  <a:spcPts val="500"/>
                </a:spcBef>
                <a:spcAft>
                  <a:spcPts val="500"/>
                </a:spcAft>
              </a:pPr>
              <a:r>
                <a:rPr lang="en-US" sz="1400" kern="150">
                  <a:solidFill>
                    <a:srgbClr val="FF0000"/>
                  </a:solidFill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SMOTE</a:t>
              </a:r>
              <a:endParaRPr lang="zh-TW" altLang="en-US" sz="1400" kern="150"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  <a:p>
              <a:pPr>
                <a:spcBef>
                  <a:spcPts val="500"/>
                </a:spcBef>
                <a:spcAft>
                  <a:spcPts val="500"/>
                </a:spcAft>
              </a:pPr>
              <a:r>
                <a:rPr lang="en-US" sz="1400" kern="150">
                  <a:solidFill>
                    <a:srgbClr val="FF0000"/>
                  </a:solidFill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 </a:t>
              </a:r>
              <a:endParaRPr lang="zh-TW" altLang="en-US" sz="1400" kern="150"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Text Box 92">
              <a:extLst>
                <a:ext uri="{FF2B5EF4-FFF2-40B4-BE49-F238E27FC236}">
                  <a16:creationId xmlns:a16="http://schemas.microsoft.com/office/drawing/2014/main" id="{5D66CBE5-B2B2-0F9E-5481-8A6335450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0068" y="4396793"/>
              <a:ext cx="892283" cy="219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spcBef>
                  <a:spcPts val="500"/>
                </a:spcBef>
                <a:spcAft>
                  <a:spcPts val="500"/>
                </a:spcAft>
              </a:pPr>
              <a:r>
                <a:rPr lang="en-US" sz="1600" kern="150">
                  <a:solidFill>
                    <a:srgbClr val="FF0000"/>
                  </a:solidFill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CNNs</a:t>
              </a:r>
              <a:endParaRPr lang="zh-TW" altLang="en-US" sz="1600" kern="150"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Text Box 75">
              <a:extLst>
                <a:ext uri="{FF2B5EF4-FFF2-40B4-BE49-F238E27FC236}">
                  <a16:creationId xmlns:a16="http://schemas.microsoft.com/office/drawing/2014/main" id="{33393328-6971-2198-B6CB-987F1ECF7C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0401" y="3844317"/>
              <a:ext cx="1076676" cy="720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spcBef>
                  <a:spcPts val="500"/>
                </a:spcBef>
                <a:spcAft>
                  <a:spcPts val="500"/>
                </a:spcAft>
              </a:pPr>
              <a:r>
                <a:rPr lang="zh-TW" altLang="en-US" sz="1400" kern="15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建構網路</a:t>
              </a:r>
              <a:endParaRPr lang="en-US" altLang="zh-TW" sz="1400" kern="15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>
                <a:spcBef>
                  <a:spcPts val="500"/>
                </a:spcBef>
                <a:spcAft>
                  <a:spcPts val="500"/>
                </a:spcAft>
              </a:pPr>
              <a:r>
                <a:rPr lang="zh-TW" altLang="en-US" sz="1400" kern="15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模型</a:t>
              </a:r>
            </a:p>
          </p:txBody>
        </p:sp>
      </p:grpSp>
      <p:sp>
        <p:nvSpPr>
          <p:cNvPr id="90" name="標題 1">
            <a:extLst>
              <a:ext uri="{FF2B5EF4-FFF2-40B4-BE49-F238E27FC236}">
                <a16:creationId xmlns:a16="http://schemas.microsoft.com/office/drawing/2014/main" id="{ECC29F85-C9F9-5577-A765-DC440E882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445" y="20988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zh-TW" sz="4000" dirty="0">
                <a:solidFill>
                  <a:schemeClr val="tx2">
                    <a:lumMod val="76000"/>
                  </a:schemeClr>
                </a:solidFill>
                <a:latin typeface="dfkai-sb"/>
                <a:ea typeface="Meiryo"/>
                <a:cs typeface="Arial"/>
              </a:rPr>
              <a:t>整體的瑕疵檢測與辨識流程</a:t>
            </a:r>
            <a:endParaRPr lang="zh-TW" altLang="en-US" sz="4000" dirty="0">
              <a:solidFill>
                <a:schemeClr val="tx2">
                  <a:lumMod val="76000"/>
                </a:schemeClr>
              </a:solidFill>
              <a:latin typeface="dfkai-sb"/>
              <a:ea typeface="Meiryo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0551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>
                <a:ea typeface="Meiryo"/>
                <a:cs typeface="Arial"/>
              </a:rPr>
              <a:t>10</a:t>
            </a:r>
            <a:r>
              <a:rPr lang="zh-TW" altLang="en-US" sz="4000" dirty="0">
                <a:ea typeface="Meiryo"/>
                <a:cs typeface="Arial"/>
              </a:rPr>
              <a:t>張在不同檢驗條件下的特徵影像</a:t>
            </a:r>
            <a:endParaRPr lang="en-US" sz="4000" dirty="0">
              <a:ea typeface="Meiryo"/>
              <a:cs typeface="Arial"/>
            </a:endParaRPr>
          </a:p>
        </p:txBody>
      </p:sp>
      <p:grpSp>
        <p:nvGrpSpPr>
          <p:cNvPr id="18" name="群組 4">
            <a:extLst>
              <a:ext uri="{FF2B5EF4-FFF2-40B4-BE49-F238E27FC236}">
                <a16:creationId xmlns:a16="http://schemas.microsoft.com/office/drawing/2014/main" id="{84E39A74-57B8-C65F-31FB-C12ABD5C75EA}"/>
              </a:ext>
            </a:extLst>
          </p:cNvPr>
          <p:cNvGrpSpPr>
            <a:grpSpLocks/>
          </p:cNvGrpSpPr>
          <p:nvPr/>
        </p:nvGrpSpPr>
        <p:grpSpPr bwMode="auto">
          <a:xfrm>
            <a:off x="1350284" y="1690689"/>
            <a:ext cx="9491434" cy="4351483"/>
            <a:chOff x="-816" y="0"/>
            <a:chExt cx="86984" cy="35911"/>
          </a:xfrm>
        </p:grpSpPr>
        <p:pic>
          <p:nvPicPr>
            <p:cNvPr id="5" name="圖片 6">
              <a:extLst>
                <a:ext uri="{FF2B5EF4-FFF2-40B4-BE49-F238E27FC236}">
                  <a16:creationId xmlns:a16="http://schemas.microsoft.com/office/drawing/2014/main" id="{4E0B2339-B61D-31FF-7366-1F209464D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83" y="17650"/>
              <a:ext cx="16262" cy="12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圖片 7">
              <a:extLst>
                <a:ext uri="{FF2B5EF4-FFF2-40B4-BE49-F238E27FC236}">
                  <a16:creationId xmlns:a16="http://schemas.microsoft.com/office/drawing/2014/main" id="{68CF0884-53A7-D165-B708-3D8CF37C1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82"/>
              <a:ext cx="16158" cy="12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圖片 8">
              <a:extLst>
                <a:ext uri="{FF2B5EF4-FFF2-40B4-BE49-F238E27FC236}">
                  <a16:creationId xmlns:a16="http://schemas.microsoft.com/office/drawing/2014/main" id="{EFDAF5EC-21BC-A8B7-6DA6-C294626FD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61" y="182"/>
              <a:ext cx="16159" cy="12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圖片 9">
              <a:extLst>
                <a:ext uri="{FF2B5EF4-FFF2-40B4-BE49-F238E27FC236}">
                  <a16:creationId xmlns:a16="http://schemas.microsoft.com/office/drawing/2014/main" id="{1BD84ABD-552D-47D8-2608-6E20D193D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48" y="0"/>
              <a:ext cx="16206" cy="121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圖片 10">
              <a:extLst>
                <a:ext uri="{FF2B5EF4-FFF2-40B4-BE49-F238E27FC236}">
                  <a16:creationId xmlns:a16="http://schemas.microsoft.com/office/drawing/2014/main" id="{CF121DA6-5EE2-6796-8211-D83917842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83" y="0"/>
              <a:ext cx="16159" cy="12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圖片 11">
              <a:extLst>
                <a:ext uri="{FF2B5EF4-FFF2-40B4-BE49-F238E27FC236}">
                  <a16:creationId xmlns:a16="http://schemas.microsoft.com/office/drawing/2014/main" id="{E719E593-1028-8356-AECA-FC41BBED8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57" y="0"/>
              <a:ext cx="16314" cy="122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圖片 12">
              <a:extLst>
                <a:ext uri="{FF2B5EF4-FFF2-40B4-BE49-F238E27FC236}">
                  <a16:creationId xmlns:a16="http://schemas.microsoft.com/office/drawing/2014/main" id="{7DF6A394-E09F-132A-9E05-52171FEE9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" y="17819"/>
              <a:ext cx="16122" cy="12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圖片 13">
              <a:extLst>
                <a:ext uri="{FF2B5EF4-FFF2-40B4-BE49-F238E27FC236}">
                  <a16:creationId xmlns:a16="http://schemas.microsoft.com/office/drawing/2014/main" id="{8F9F78DD-DE0B-E43C-FB48-078DBDAB2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81" y="17732"/>
              <a:ext cx="16238" cy="12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圖片 14">
              <a:extLst>
                <a:ext uri="{FF2B5EF4-FFF2-40B4-BE49-F238E27FC236}">
                  <a16:creationId xmlns:a16="http://schemas.microsoft.com/office/drawing/2014/main" id="{794DB7B9-A848-6F4A-6DEF-F07B00266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48" y="17671"/>
              <a:ext cx="16206" cy="121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圖片 15">
              <a:extLst>
                <a:ext uri="{FF2B5EF4-FFF2-40B4-BE49-F238E27FC236}">
                  <a16:creationId xmlns:a16="http://schemas.microsoft.com/office/drawing/2014/main" id="{B4FCC54A-7CCC-9B84-3FBD-4AC509AE0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18" y="17619"/>
              <a:ext cx="16275" cy="12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文字方塊 14">
              <a:extLst>
                <a:ext uri="{FF2B5EF4-FFF2-40B4-BE49-F238E27FC236}">
                  <a16:creationId xmlns:a16="http://schemas.microsoft.com/office/drawing/2014/main" id="{A75DFB23-9DA3-B15B-E8C7-D1771401C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16" y="29975"/>
              <a:ext cx="86306" cy="59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spcBef>
                  <a:spcPts val="500"/>
                </a:spcBef>
                <a:spcAft>
                  <a:spcPts val="500"/>
                </a:spcAft>
              </a:pPr>
              <a:r>
                <a:rPr 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(f ) </a:t>
              </a:r>
              <a:r>
                <a:rPr lang="zh-TW" alt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棋盤格畫面</a:t>
              </a:r>
              <a:r>
                <a:rPr lang="en-US" sz="2000" i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I</a:t>
              </a:r>
              <a:r>
                <a:rPr lang="en-US" sz="2000" baseline="-25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5</a:t>
              </a:r>
              <a:r>
                <a:rPr 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    (g) </a:t>
              </a:r>
              <a:r>
                <a:rPr lang="zh-TW" alt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白畫面</a:t>
              </a:r>
              <a:r>
                <a:rPr lang="en-US" sz="2000" i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I</a:t>
              </a:r>
              <a:r>
                <a:rPr lang="en-US" sz="2000" baseline="-25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6</a:t>
              </a:r>
              <a:r>
                <a:rPr 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        (h) </a:t>
              </a:r>
              <a:r>
                <a:rPr lang="zh-TW" alt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紅畫面</a:t>
              </a:r>
              <a:r>
                <a:rPr lang="en-US" sz="2000" i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I</a:t>
              </a:r>
              <a:r>
                <a:rPr lang="en-US" sz="2000" baseline="-25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7</a:t>
              </a:r>
              <a:r>
                <a:rPr 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        (</a:t>
              </a:r>
              <a:r>
                <a:rPr lang="en-US" sz="2000" dirty="0" err="1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i</a:t>
              </a:r>
              <a:r>
                <a:rPr 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) </a:t>
              </a:r>
              <a:r>
                <a:rPr lang="zh-TW" alt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綠畫面</a:t>
              </a:r>
              <a:r>
                <a:rPr lang="en-US" sz="2000" i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I</a:t>
              </a:r>
              <a:r>
                <a:rPr lang="en-US" sz="2000" baseline="-25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8</a:t>
              </a:r>
              <a:r>
                <a:rPr 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          (j) </a:t>
              </a:r>
              <a:r>
                <a:rPr lang="zh-TW" alt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藍畫面</a:t>
              </a:r>
              <a:r>
                <a:rPr lang="en-US" sz="2000" i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I</a:t>
              </a:r>
              <a:r>
                <a:rPr lang="en-US" sz="2000" baseline="-25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9</a:t>
              </a:r>
              <a:endPara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endParaRPr>
            </a:p>
          </p:txBody>
        </p:sp>
        <p:sp>
          <p:nvSpPr>
            <p:cNvPr id="17" name="文字方塊 26">
              <a:extLst>
                <a:ext uri="{FF2B5EF4-FFF2-40B4-BE49-F238E27FC236}">
                  <a16:creationId xmlns:a16="http://schemas.microsoft.com/office/drawing/2014/main" id="{2F0D01C2-FE70-1C45-FCEF-9C5AD5C9A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24" y="12101"/>
              <a:ext cx="86592" cy="14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spcBef>
                  <a:spcPts val="500"/>
                </a:spcBef>
                <a:spcAft>
                  <a:spcPts val="500"/>
                </a:spcAft>
              </a:pPr>
              <a:r>
                <a:rPr 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(a) </a:t>
              </a:r>
              <a:r>
                <a:rPr lang="zh-TW" alt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除塵畫面</a:t>
              </a:r>
              <a:r>
                <a:rPr lang="en-US" sz="2000" i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I</a:t>
              </a:r>
              <a:r>
                <a:rPr lang="en-US" sz="2000" baseline="-25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0        </a:t>
              </a:r>
              <a:r>
                <a:rPr 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 (b) 128</a:t>
              </a:r>
              <a:r>
                <a:rPr lang="zh-TW" alt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畫面</a:t>
              </a:r>
              <a:r>
                <a:rPr lang="en-US" sz="2000" i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I</a:t>
              </a:r>
              <a:r>
                <a:rPr lang="en-US" sz="2000" baseline="-25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1</a:t>
              </a:r>
              <a:r>
                <a:rPr 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      (c) </a:t>
              </a:r>
              <a:r>
                <a:rPr lang="zh-TW" alt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黑畫面</a:t>
              </a:r>
              <a:r>
                <a:rPr lang="en-US" sz="2000" i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I</a:t>
              </a:r>
              <a:r>
                <a:rPr lang="en-US" sz="2000" baseline="-25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2</a:t>
              </a:r>
              <a:r>
                <a:rPr 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     (d) </a:t>
              </a:r>
              <a:r>
                <a:rPr lang="zh-TW" alt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黑閃畫面</a:t>
              </a:r>
              <a:r>
                <a:rPr lang="zh-TW" alt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</a:t>
              </a:r>
              <a:r>
                <a:rPr lang="en-US" sz="2000" i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I</a:t>
              </a:r>
              <a:r>
                <a:rPr lang="en-US" sz="2000" baseline="-25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3</a:t>
              </a:r>
              <a:r>
                <a:rPr 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  (e)</a:t>
              </a:r>
              <a:r>
                <a:rPr lang="zh-TW" altLang="en-US" sz="2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百葉窗畫面</a:t>
              </a:r>
              <a:r>
                <a:rPr lang="en-US" sz="2000" i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I</a:t>
              </a:r>
              <a:r>
                <a:rPr lang="en-US" sz="2000" baseline="-250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4</a:t>
              </a:r>
              <a:endPara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endParaRPr>
            </a:p>
            <a:p>
              <a:pPr>
                <a:spcBef>
                  <a:spcPts val="500"/>
                </a:spcBef>
                <a:spcAft>
                  <a:spcPts val="500"/>
                </a:spcAft>
              </a:pPr>
              <a:r>
                <a:rPr 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 </a:t>
              </a:r>
              <a:endPara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7647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 err="1">
                <a:latin typeface="+mn-lt"/>
                <a:ea typeface="Meiryo"/>
                <a:cs typeface="Arial"/>
              </a:rPr>
              <a:t>檢測區域定位處理流程</a:t>
            </a:r>
            <a:endParaRPr lang="en-US" sz="4000" dirty="0">
              <a:latin typeface="+mn-lt"/>
              <a:ea typeface="Meiryo"/>
              <a:cs typeface="Arial"/>
            </a:endParaRPr>
          </a:p>
        </p:txBody>
      </p:sp>
      <p:grpSp>
        <p:nvGrpSpPr>
          <p:cNvPr id="64" name="群組 65">
            <a:extLst>
              <a:ext uri="{FF2B5EF4-FFF2-40B4-BE49-F238E27FC236}">
                <a16:creationId xmlns:a16="http://schemas.microsoft.com/office/drawing/2014/main" id="{687E3215-2089-3EDC-C612-1BDB29CCE298}"/>
              </a:ext>
            </a:extLst>
          </p:cNvPr>
          <p:cNvGrpSpPr>
            <a:grpSpLocks/>
          </p:cNvGrpSpPr>
          <p:nvPr/>
        </p:nvGrpSpPr>
        <p:grpSpPr bwMode="auto">
          <a:xfrm>
            <a:off x="212209" y="2569241"/>
            <a:ext cx="11767581" cy="2316866"/>
            <a:chOff x="0" y="0"/>
            <a:chExt cx="46793" cy="10649"/>
          </a:xfrm>
        </p:grpSpPr>
        <p:cxnSp>
          <p:nvCxnSpPr>
            <p:cNvPr id="5" name="直線單箭頭接點 67">
              <a:extLst>
                <a:ext uri="{FF2B5EF4-FFF2-40B4-BE49-F238E27FC236}">
                  <a16:creationId xmlns:a16="http://schemas.microsoft.com/office/drawing/2014/main" id="{0ADDFEBF-8F71-4304-705B-7FEFA3AC91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186" y="3852"/>
              <a:ext cx="1800" cy="0"/>
            </a:xfrm>
            <a:prstGeom prst="straightConnector1">
              <a:avLst/>
            </a:prstGeom>
            <a:noFill/>
            <a:ln w="9525">
              <a:solidFill>
                <a:srgbClr val="00B05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6" name="群組 68">
              <a:extLst>
                <a:ext uri="{FF2B5EF4-FFF2-40B4-BE49-F238E27FC236}">
                  <a16:creationId xmlns:a16="http://schemas.microsoft.com/office/drawing/2014/main" id="{BB6B0CDB-3D1A-CA40-88E4-EFFFF36B12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46793" cy="10649"/>
              <a:chOff x="0" y="0"/>
              <a:chExt cx="46793" cy="10649"/>
            </a:xfrm>
          </p:grpSpPr>
          <p:grpSp>
            <p:nvGrpSpPr>
              <p:cNvPr id="8" name="群組 69">
                <a:extLst>
                  <a:ext uri="{FF2B5EF4-FFF2-40B4-BE49-F238E27FC236}">
                    <a16:creationId xmlns:a16="http://schemas.microsoft.com/office/drawing/2014/main" id="{8046F1D1-2904-C424-11F0-D7B0E72C2B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2" y="0"/>
                <a:ext cx="3674" cy="5414"/>
                <a:chOff x="0" y="0"/>
                <a:chExt cx="3529" cy="6492"/>
              </a:xfrm>
            </p:grpSpPr>
            <p:sp>
              <p:nvSpPr>
                <p:cNvPr id="52" name="圓角矩形 30">
                  <a:extLst>
                    <a:ext uri="{FF2B5EF4-FFF2-40B4-BE49-F238E27FC236}">
                      <a16:creationId xmlns:a16="http://schemas.microsoft.com/office/drawing/2014/main" id="{6175D81B-8C80-AA29-5A95-1C14D5049A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529" cy="6492"/>
                </a:xfrm>
                <a:prstGeom prst="roundRect">
                  <a:avLst>
                    <a:gd name="adj" fmla="val 16667"/>
                  </a:avLst>
                </a:prstGeom>
                <a:gradFill rotWithShape="1">
                  <a:gsLst>
                    <a:gs pos="0">
                      <a:srgbClr val="FFDD9C"/>
                    </a:gs>
                    <a:gs pos="50000">
                      <a:srgbClr val="FFD78E"/>
                    </a:gs>
                    <a:gs pos="100000">
                      <a:srgbClr val="FFD479"/>
                    </a:gs>
                  </a:gsLst>
                  <a:lin ang="5400000"/>
                </a:gradFill>
                <a:ln w="6350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ctr" anchorCtr="0" upright="1">
                  <a:no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53" name="群組 114">
                  <a:extLst>
                    <a:ext uri="{FF2B5EF4-FFF2-40B4-BE49-F238E27FC236}">
                      <a16:creationId xmlns:a16="http://schemas.microsoft.com/office/drawing/2014/main" id="{29F94C15-D8C3-8230-E9BA-13CE5FA6574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6" y="329"/>
                  <a:ext cx="2971" cy="5742"/>
                  <a:chOff x="0" y="0"/>
                  <a:chExt cx="2971" cy="5742"/>
                </a:xfrm>
              </p:grpSpPr>
              <p:pic>
                <p:nvPicPr>
                  <p:cNvPr id="54" name="圖片 115">
                    <a:extLst>
                      <a:ext uri="{FF2B5EF4-FFF2-40B4-BE49-F238E27FC236}">
                        <a16:creationId xmlns:a16="http://schemas.microsoft.com/office/drawing/2014/main" id="{9C5C9EA8-09B3-790D-8362-99C3E0738F9B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517" y="3493"/>
                    <a:ext cx="1436" cy="1079"/>
                  </a:xfrm>
                  <a:prstGeom prst="rect">
                    <a:avLst/>
                  </a:prstGeom>
                  <a:noFill/>
                  <a:ln w="9525">
                    <a:solidFill>
                      <a:srgbClr val="FF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" name="圖片 116">
                    <a:extLst>
                      <a:ext uri="{FF2B5EF4-FFF2-40B4-BE49-F238E27FC236}">
                        <a16:creationId xmlns:a16="http://schemas.microsoft.com/office/drawing/2014/main" id="{1F0D8238-00E4-0ED8-9E80-642A5E733A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" y="0"/>
                    <a:ext cx="1435" cy="106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6" name="圖片 117">
                    <a:extLst>
                      <a:ext uri="{FF2B5EF4-FFF2-40B4-BE49-F238E27FC236}">
                        <a16:creationId xmlns:a16="http://schemas.microsoft.com/office/drawing/2014/main" id="{92A85F30-78AF-9004-4D49-A7FA9F58170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0" y="1152"/>
                    <a:ext cx="1435" cy="1066"/>
                  </a:xfrm>
                  <a:prstGeom prst="rect">
                    <a:avLst/>
                  </a:prstGeom>
                  <a:noFill/>
                  <a:ln w="9525">
                    <a:solidFill>
                      <a:srgbClr val="FF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7" name="圖片 118">
                    <a:extLst>
                      <a:ext uri="{FF2B5EF4-FFF2-40B4-BE49-F238E27FC236}">
                        <a16:creationId xmlns:a16="http://schemas.microsoft.com/office/drawing/2014/main" id="{08A005BF-AF25-9473-A1EB-12254E3F4B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0" y="2322"/>
                    <a:ext cx="1435" cy="1067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" name="圖片 119">
                    <a:extLst>
                      <a:ext uri="{FF2B5EF4-FFF2-40B4-BE49-F238E27FC236}">
                        <a16:creationId xmlns:a16="http://schemas.microsoft.com/office/drawing/2014/main" id="{EA4C69EA-7DD8-FDEE-286C-BE2C5F64775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0" y="3493"/>
                    <a:ext cx="1435" cy="106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9" name="圖片 120">
                    <a:extLst>
                      <a:ext uri="{FF2B5EF4-FFF2-40B4-BE49-F238E27FC236}">
                        <a16:creationId xmlns:a16="http://schemas.microsoft.com/office/drawing/2014/main" id="{5711AD5D-E431-9311-02BF-3CE867C9012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0" y="4645"/>
                    <a:ext cx="1435" cy="106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0" name="圖片 121">
                    <a:extLst>
                      <a:ext uri="{FF2B5EF4-FFF2-40B4-BE49-F238E27FC236}">
                        <a16:creationId xmlns:a16="http://schemas.microsoft.com/office/drawing/2014/main" id="{3A087F76-AAC6-FFED-ABD2-9038CA58662F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536" y="0"/>
                    <a:ext cx="1435" cy="10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1" name="圖片 122">
                    <a:extLst>
                      <a:ext uri="{FF2B5EF4-FFF2-40B4-BE49-F238E27FC236}">
                        <a16:creationId xmlns:a16="http://schemas.microsoft.com/office/drawing/2014/main" id="{1E35A6D3-F755-636C-B980-E0731AB62A51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1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517" y="1152"/>
                    <a:ext cx="1436" cy="1079"/>
                  </a:xfrm>
                  <a:prstGeom prst="rect">
                    <a:avLst/>
                  </a:prstGeom>
                  <a:noFill/>
                  <a:ln w="9525">
                    <a:solidFill>
                      <a:srgbClr val="FF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2" name="圖片 123">
                    <a:extLst>
                      <a:ext uri="{FF2B5EF4-FFF2-40B4-BE49-F238E27FC236}">
                        <a16:creationId xmlns:a16="http://schemas.microsoft.com/office/drawing/2014/main" id="{033A1343-3050-2AC2-0983-AEE2BAE57881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1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517" y="2340"/>
                    <a:ext cx="1436" cy="1080"/>
                  </a:xfrm>
                  <a:prstGeom prst="rect">
                    <a:avLst/>
                  </a:prstGeom>
                  <a:noFill/>
                  <a:ln w="9525">
                    <a:solidFill>
                      <a:srgbClr val="FF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3" name="圖片 124">
                    <a:extLst>
                      <a:ext uri="{FF2B5EF4-FFF2-40B4-BE49-F238E27FC236}">
                        <a16:creationId xmlns:a16="http://schemas.microsoft.com/office/drawing/2014/main" id="{E34B97F6-C127-531F-5D48-64B310837741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1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517" y="4663"/>
                    <a:ext cx="1436" cy="1079"/>
                  </a:xfrm>
                  <a:prstGeom prst="rect">
                    <a:avLst/>
                  </a:prstGeom>
                  <a:noFill/>
                  <a:ln w="9525">
                    <a:solidFill>
                      <a:srgbClr val="FF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grpSp>
            <p:nvGrpSpPr>
              <p:cNvPr id="9" name="群組 70">
                <a:extLst>
                  <a:ext uri="{FF2B5EF4-FFF2-40B4-BE49-F238E27FC236}">
                    <a16:creationId xmlns:a16="http://schemas.microsoft.com/office/drawing/2014/main" id="{85C484F1-34B4-CD8F-5FD0-E8C345E013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44" y="2641"/>
                <a:ext cx="2025" cy="2299"/>
                <a:chOff x="-27401" y="30731"/>
                <a:chExt cx="239395" cy="290195"/>
              </a:xfrm>
            </p:grpSpPr>
            <p:sp>
              <p:nvSpPr>
                <p:cNvPr id="50" name="Text Box 129">
                  <a:extLst>
                    <a:ext uri="{FF2B5EF4-FFF2-40B4-BE49-F238E27FC236}">
                      <a16:creationId xmlns:a16="http://schemas.microsoft.com/office/drawing/2014/main" id="{DE61F4B9-8C35-220F-4F2E-3A1F67BC43D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27401" y="30731"/>
                  <a:ext cx="239395" cy="2901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indent="152396" algn="just">
                    <a:lnSpc>
                      <a:spcPct val="150000"/>
                    </a:lnSpc>
                  </a:pPr>
                  <a:r>
                    <a:rPr lang="en-US" sz="1400" kern="100">
                      <a:latin typeface="Times New Roman" panose="02020603050405020304" pitchFamily="18" charset="0"/>
                      <a:ea typeface="標楷體" panose="03000509000000000000" pitchFamily="65" charset="-12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</a:t>
                  </a:r>
                  <a:endParaRPr lang="zh-TW" altLang="en-US" sz="1400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橢圓 112">
                  <a:extLst>
                    <a:ext uri="{FF2B5EF4-FFF2-40B4-BE49-F238E27FC236}">
                      <a16:creationId xmlns:a16="http://schemas.microsoft.com/office/drawing/2014/main" id="{42F1F82B-3796-011F-053F-BF9F1425E3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864" y="95097"/>
                  <a:ext cx="148133" cy="149961"/>
                </a:xfrm>
                <a:prstGeom prst="ellipse">
                  <a:avLst/>
                </a:prstGeom>
                <a:noFill/>
                <a:ln w="6350">
                  <a:solidFill>
                    <a:schemeClr val="tx1">
                      <a:lumMod val="100000"/>
                      <a:lumOff val="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ctr" anchorCtr="0" upright="1">
                  <a:noAutofit/>
                </a:bodyPr>
                <a:lstStyle/>
                <a:p>
                  <a:endParaRPr lang="zh-TW" altLang="en-US"/>
                </a:p>
              </p:txBody>
            </p:sp>
          </p:grpSp>
          <p:cxnSp>
            <p:nvCxnSpPr>
              <p:cNvPr id="10" name="直線單箭頭接點 71">
                <a:extLst>
                  <a:ext uri="{FF2B5EF4-FFF2-40B4-BE49-F238E27FC236}">
                    <a16:creationId xmlns:a16="http://schemas.microsoft.com/office/drawing/2014/main" id="{16EB73DB-2614-E677-9B3D-3FE9B131C4F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376" y="3725"/>
                <a:ext cx="2520" cy="0"/>
              </a:xfrm>
              <a:prstGeom prst="straightConnector1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1" name="Text Box 132">
                <a:extLst>
                  <a:ext uri="{FF2B5EF4-FFF2-40B4-BE49-F238E27FC236}">
                    <a16:creationId xmlns:a16="http://schemas.microsoft.com/office/drawing/2014/main" id="{8D3C9F72-0276-9B6D-0700-D592731D8A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5291"/>
                <a:ext cx="7131" cy="3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spAutoFit/>
              </a:bodyPr>
              <a:lstStyle/>
              <a:p>
                <a:pPr indent="126997" algn="ctr">
                  <a:lnSpc>
                    <a:spcPct val="150000"/>
                  </a:lnSpc>
                </a:pPr>
                <a:r>
                  <a:rPr lang="zh-TW" altLang="en-US" sz="1600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特徵影像</a:t>
                </a:r>
              </a:p>
              <a:p>
                <a:pPr indent="126997" algn="ctr">
                  <a:lnSpc>
                    <a:spcPct val="150000"/>
                  </a:lnSpc>
                </a:pPr>
                <a:r>
                  <a:rPr lang="en-US" sz="1600" i="1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</a:t>
                </a:r>
                <a:r>
                  <a:rPr lang="en-US" sz="1600" kern="100" baseline="-25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 </a:t>
                </a:r>
                <a:r>
                  <a:rPr lang="en-US" sz="1600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~ </a:t>
                </a:r>
                <a:r>
                  <a:rPr lang="en-US" sz="1600" i="1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</a:t>
                </a:r>
                <a:r>
                  <a:rPr lang="en-US" sz="1600" kern="100" baseline="-25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9</a:t>
                </a:r>
                <a:endParaRPr lang="zh-TW" altLang="en-US" sz="1600" kern="1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2" name="圖片 73" descr="一張含有 黑與白, Rectangle, 單色, 視窗 的圖片&#10;&#10;自動產生的描述">
                <a:extLst>
                  <a:ext uri="{FF2B5EF4-FFF2-40B4-BE49-F238E27FC236}">
                    <a16:creationId xmlns:a16="http://schemas.microsoft.com/office/drawing/2014/main" id="{6B1E435F-9DF6-FB38-507D-C1C09921EA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097" y="5207"/>
                <a:ext cx="2882" cy="21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Text Box 134">
                <a:extLst>
                  <a:ext uri="{FF2B5EF4-FFF2-40B4-BE49-F238E27FC236}">
                    <a16:creationId xmlns:a16="http://schemas.microsoft.com/office/drawing/2014/main" id="{4F4FC604-5525-1289-1DDC-722DE0E4A8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44" y="6770"/>
                <a:ext cx="6229" cy="3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spAutoFit/>
              </a:bodyPr>
              <a:lstStyle/>
              <a:p>
                <a:pPr indent="126997" algn="ctr">
                  <a:lnSpc>
                    <a:spcPct val="150000"/>
                  </a:lnSpc>
                </a:pPr>
                <a:r>
                  <a:rPr lang="zh-TW" altLang="en-US" sz="1600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堆疊影像</a:t>
                </a:r>
              </a:p>
              <a:p>
                <a:pPr indent="126997" algn="ctr">
                  <a:lnSpc>
                    <a:spcPct val="150000"/>
                  </a:lnSpc>
                </a:pPr>
                <a:r>
                  <a:rPr lang="en-US" sz="1600" i="1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</a:t>
                </a:r>
                <a:r>
                  <a:rPr lang="en-US" sz="1600" i="1" kern="100" baseline="-25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</a:t>
                </a:r>
                <a:endParaRPr lang="zh-TW" altLang="en-US" sz="1600" kern="1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4" name="圖片 75" descr="一張含有 Rectangle, 單色, 黑與白, 視窗 的圖片&#10;&#10;自動產生的描述">
                <a:extLst>
                  <a:ext uri="{FF2B5EF4-FFF2-40B4-BE49-F238E27FC236}">
                    <a16:creationId xmlns:a16="http://schemas.microsoft.com/office/drawing/2014/main" id="{24CDB834-8244-EA78-50A8-F2C6FE0C4C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10" y="4743"/>
                <a:ext cx="2876" cy="21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5" name="直線單箭頭接點 76">
                <a:extLst>
                  <a:ext uri="{FF2B5EF4-FFF2-40B4-BE49-F238E27FC236}">
                    <a16:creationId xmlns:a16="http://schemas.microsoft.com/office/drawing/2014/main" id="{6EC63734-9D5B-E255-A52E-CE7D254F087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743" y="3852"/>
                <a:ext cx="1800" cy="0"/>
              </a:xfrm>
              <a:prstGeom prst="straightConnector1">
                <a:avLst/>
              </a:prstGeom>
              <a:noFill/>
              <a:ln w="9525">
                <a:solidFill>
                  <a:srgbClr val="00B05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" name="Text Box 137">
                <a:extLst>
                  <a:ext uri="{FF2B5EF4-FFF2-40B4-BE49-F238E27FC236}">
                    <a16:creationId xmlns:a16="http://schemas.microsoft.com/office/drawing/2014/main" id="{7E6F15EC-F2DB-0EE3-8A51-F1D8CED900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11" y="6897"/>
                <a:ext cx="6153" cy="3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spAutoFit/>
              </a:bodyPr>
              <a:lstStyle/>
              <a:p>
                <a:pPr indent="126997" algn="ctr">
                  <a:lnSpc>
                    <a:spcPct val="150000"/>
                  </a:lnSpc>
                </a:pPr>
                <a:r>
                  <a:rPr lang="zh-TW" altLang="en-US" sz="1600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二值影像</a:t>
                </a:r>
              </a:p>
              <a:p>
                <a:pPr indent="126997" algn="ctr">
                  <a:lnSpc>
                    <a:spcPct val="150000"/>
                  </a:lnSpc>
                </a:pPr>
                <a:r>
                  <a:rPr lang="en-US" sz="1600" i="1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</a:t>
                </a:r>
                <a:r>
                  <a:rPr lang="en-US" sz="1600" i="1" kern="100" baseline="-25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endParaRPr lang="zh-TW" altLang="en-US" sz="1600" kern="1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矩形 78">
                <a:extLst>
                  <a:ext uri="{FF2B5EF4-FFF2-40B4-BE49-F238E27FC236}">
                    <a16:creationId xmlns:a16="http://schemas.microsoft.com/office/drawing/2014/main" id="{C19D4B02-FE97-7BA3-76F9-7AB0AFFB0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20" y="2823"/>
                <a:ext cx="3680" cy="2058"/>
              </a:xfrm>
              <a:prstGeom prst="rect">
                <a:avLst/>
              </a:prstGeom>
              <a:gradFill rotWithShape="1">
                <a:gsLst>
                  <a:gs pos="0">
                    <a:srgbClr val="B1CBE9"/>
                  </a:gs>
                  <a:gs pos="50000">
                    <a:srgbClr val="A3C1E5"/>
                  </a:gs>
                  <a:gs pos="100000">
                    <a:srgbClr val="92B9E4"/>
                  </a:gs>
                </a:gsLst>
                <a:lin ang="5400000"/>
              </a:gradFill>
              <a:ln w="6350">
                <a:solidFill>
                  <a:schemeClr val="accent1">
                    <a:lumMod val="100000"/>
                    <a:lumOff val="0"/>
                  </a:schemeClr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indent="14605" algn="ctr"/>
                <a:endParaRPr lang="en-US" altLang="zh-TW" sz="1400" kern="1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indent="14605" algn="ctr"/>
                <a:r>
                  <a:rPr lang="zh-TW" altLang="en-US" sz="1400" kern="1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二值化</a:t>
                </a:r>
              </a:p>
              <a:p>
                <a:pPr indent="355591" algn="ctr"/>
                <a:r>
                  <a:rPr lang="en-US" sz="1400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 </a:t>
                </a:r>
                <a:endParaRPr lang="zh-TW" altLang="en-US" sz="1400" kern="1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" name="直線單箭頭接點 79">
                <a:extLst>
                  <a:ext uri="{FF2B5EF4-FFF2-40B4-BE49-F238E27FC236}">
                    <a16:creationId xmlns:a16="http://schemas.microsoft.com/office/drawing/2014/main" id="{B6747DCC-9350-42CF-30C7-1859481B60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4520" y="3979"/>
                <a:ext cx="2520" cy="0"/>
              </a:xfrm>
              <a:prstGeom prst="straightConnector1">
                <a:avLst/>
              </a:prstGeom>
              <a:noFill/>
              <a:ln w="9525">
                <a:solidFill>
                  <a:srgbClr val="00B05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9" name="矩形 80">
                <a:extLst>
                  <a:ext uri="{FF2B5EF4-FFF2-40B4-BE49-F238E27FC236}">
                    <a16:creationId xmlns:a16="http://schemas.microsoft.com/office/drawing/2014/main" id="{332A40B8-53A8-0924-5B41-C1A4D9C7BC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91" y="2878"/>
                <a:ext cx="3852" cy="2062"/>
              </a:xfrm>
              <a:prstGeom prst="rect">
                <a:avLst/>
              </a:prstGeom>
              <a:gradFill rotWithShape="1">
                <a:gsLst>
                  <a:gs pos="0">
                    <a:srgbClr val="B1CBE9"/>
                  </a:gs>
                  <a:gs pos="50000">
                    <a:srgbClr val="A3C1E5"/>
                  </a:gs>
                  <a:gs pos="100000">
                    <a:srgbClr val="92B9E4"/>
                  </a:gs>
                </a:gsLst>
                <a:lin ang="5400000"/>
              </a:gradFill>
              <a:ln w="6350">
                <a:solidFill>
                  <a:schemeClr val="accent1">
                    <a:lumMod val="100000"/>
                    <a:lumOff val="0"/>
                  </a:schemeClr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indent="13970" algn="ctr"/>
                <a:endParaRPr lang="en-US" sz="1600" kern="1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  <a:p>
                <a:pPr indent="13970" algn="ctr"/>
                <a:r>
                  <a:rPr lang="en-US" sz="1600" kern="1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CCL</a:t>
                </a:r>
                <a:endParaRPr lang="zh-TW" altLang="en-US" sz="1600" kern="1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  <a:p>
                <a:pPr indent="24765" algn="ctr">
                  <a:lnSpc>
                    <a:spcPct val="150000"/>
                  </a:lnSpc>
                </a:pPr>
                <a:r>
                  <a:rPr lang="en-US" sz="1600" kern="1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 </a:t>
                </a:r>
                <a:endParaRPr lang="zh-TW" altLang="en-US" sz="1600" kern="1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矩形 81">
                <a:extLst>
                  <a:ext uri="{FF2B5EF4-FFF2-40B4-BE49-F238E27FC236}">
                    <a16:creationId xmlns:a16="http://schemas.microsoft.com/office/drawing/2014/main" id="{B98AA62C-D5E0-43A4-F925-BFAC66C1E5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3" y="2878"/>
                <a:ext cx="3852" cy="2062"/>
              </a:xfrm>
              <a:prstGeom prst="rect">
                <a:avLst/>
              </a:prstGeom>
              <a:gradFill rotWithShape="1">
                <a:gsLst>
                  <a:gs pos="0">
                    <a:srgbClr val="B1CBE9"/>
                  </a:gs>
                  <a:gs pos="50000">
                    <a:srgbClr val="A3C1E5"/>
                  </a:gs>
                  <a:gs pos="100000">
                    <a:srgbClr val="92B9E4"/>
                  </a:gs>
                </a:gsLst>
                <a:lin ang="5400000"/>
              </a:gradFill>
              <a:ln w="6350">
                <a:solidFill>
                  <a:schemeClr val="accent1">
                    <a:lumMod val="100000"/>
                    <a:lumOff val="0"/>
                  </a:schemeClr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indent="14605" algn="ctr"/>
                <a:endParaRPr lang="en-US" altLang="zh-TW" sz="1400" kern="1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  <a:p>
                <a:pPr indent="14605" algn="ctr"/>
                <a:r>
                  <a:rPr lang="zh-TW" altLang="en-US" sz="1400" kern="1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區域</a:t>
                </a:r>
                <a:endParaRPr lang="en-US" altLang="zh-TW" sz="1400" kern="1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  <a:p>
                <a:pPr indent="14605" algn="ctr"/>
                <a:r>
                  <a:rPr lang="zh-TW" altLang="en-US" sz="1400" kern="1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排序</a:t>
                </a:r>
              </a:p>
              <a:p>
                <a:pPr indent="355591" algn="ctr"/>
                <a:r>
                  <a:rPr lang="en-US" sz="1400" kern="1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 </a:t>
                </a:r>
                <a:endParaRPr lang="zh-TW" altLang="en-US" sz="1400" kern="1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矩形 82">
                <a:extLst>
                  <a:ext uri="{FF2B5EF4-FFF2-40B4-BE49-F238E27FC236}">
                    <a16:creationId xmlns:a16="http://schemas.microsoft.com/office/drawing/2014/main" id="{26B3DA5E-99D4-8E9F-67D5-0C37F17137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92" y="635"/>
                <a:ext cx="3852" cy="2986"/>
              </a:xfrm>
              <a:prstGeom prst="rect">
                <a:avLst/>
              </a:prstGeom>
              <a:gradFill rotWithShape="1">
                <a:gsLst>
                  <a:gs pos="0">
                    <a:srgbClr val="B1CBE9"/>
                  </a:gs>
                  <a:gs pos="50000">
                    <a:srgbClr val="A3C1E5"/>
                  </a:gs>
                  <a:gs pos="100000">
                    <a:srgbClr val="92B9E4"/>
                  </a:gs>
                </a:gsLst>
                <a:lin ang="5400000"/>
              </a:gradFill>
              <a:ln w="6350">
                <a:solidFill>
                  <a:schemeClr val="accent1">
                    <a:lumMod val="100000"/>
                    <a:lumOff val="0"/>
                  </a:schemeClr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indent="14605" algn="ctr"/>
                <a:endParaRPr lang="en-US" altLang="zh-TW" sz="1400" kern="1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  <a:p>
                <a:pPr indent="14605" algn="ctr"/>
                <a:r>
                  <a:rPr lang="zh-TW" altLang="en-US" sz="1400" kern="100">
                    <a:latin typeface="微軟正黑體"/>
                    <a:ea typeface="微軟正黑體"/>
                    <a:cs typeface="Times New Roman"/>
                  </a:rPr>
                  <a:t>黑區</a:t>
                </a:r>
              </a:p>
              <a:p>
                <a:pPr indent="14605" algn="ctr"/>
                <a:r>
                  <a:rPr lang="zh-TW" altLang="en-US" sz="1400" kern="100">
                    <a:latin typeface="微軟正黑體"/>
                    <a:ea typeface="微軟正黑體"/>
                    <a:cs typeface="Times New Roman"/>
                  </a:rPr>
                  <a:t>重整</a:t>
                </a:r>
                <a:endParaRPr lang="zh-TW"/>
              </a:p>
              <a:p>
                <a:pPr indent="354965" algn="ctr"/>
                <a:endParaRPr lang="zh-TW" altLang="en-US" sz="1400" kern="1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矩形 83">
                <a:extLst>
                  <a:ext uri="{FF2B5EF4-FFF2-40B4-BE49-F238E27FC236}">
                    <a16:creationId xmlns:a16="http://schemas.microsoft.com/office/drawing/2014/main" id="{2860B554-9990-9265-66F2-5EA5FED2B9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29" y="4602"/>
                <a:ext cx="3852" cy="2690"/>
              </a:xfrm>
              <a:prstGeom prst="rect">
                <a:avLst/>
              </a:prstGeom>
              <a:gradFill rotWithShape="1">
                <a:gsLst>
                  <a:gs pos="0">
                    <a:srgbClr val="B1CBE9"/>
                  </a:gs>
                  <a:gs pos="50000">
                    <a:srgbClr val="A3C1E5"/>
                  </a:gs>
                  <a:gs pos="100000">
                    <a:srgbClr val="92B9E4"/>
                  </a:gs>
                </a:gsLst>
                <a:lin ang="5400000"/>
              </a:gradFill>
              <a:ln w="6350">
                <a:solidFill>
                  <a:schemeClr val="accent1">
                    <a:lumMod val="100000"/>
                    <a:lumOff val="0"/>
                  </a:schemeClr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indent="14605" algn="ctr"/>
                <a:endParaRPr lang="en-US" altLang="zh-TW" sz="1400" kern="1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  <a:p>
                <a:pPr indent="14605" algn="ctr"/>
                <a:r>
                  <a:rPr lang="zh-TW" altLang="en-US" sz="1400" kern="1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白區</a:t>
                </a:r>
                <a:endParaRPr lang="en-US" altLang="zh-TW" sz="1400" kern="1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  <a:p>
                <a:pPr indent="14605" algn="ctr"/>
                <a:r>
                  <a:rPr lang="zh-TW" altLang="en-US" sz="1400" kern="1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重整</a:t>
                </a:r>
              </a:p>
              <a:p>
                <a:pPr indent="355591" algn="ctr"/>
                <a:r>
                  <a:rPr lang="en-US" sz="1400" kern="100"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 </a:t>
                </a:r>
                <a:endParaRPr lang="zh-TW" altLang="en-US" sz="1400" kern="1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矩形 84">
                <a:extLst>
                  <a:ext uri="{FF2B5EF4-FFF2-40B4-BE49-F238E27FC236}">
                    <a16:creationId xmlns:a16="http://schemas.microsoft.com/office/drawing/2014/main" id="{91912991-F787-F9D3-4BE3-1D8D856CAE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09" y="2328"/>
                <a:ext cx="3447" cy="2838"/>
              </a:xfrm>
              <a:prstGeom prst="rect">
                <a:avLst/>
              </a:prstGeom>
              <a:gradFill rotWithShape="1">
                <a:gsLst>
                  <a:gs pos="0">
                    <a:srgbClr val="B1CBE9"/>
                  </a:gs>
                  <a:gs pos="50000">
                    <a:srgbClr val="A3C1E5"/>
                  </a:gs>
                  <a:gs pos="100000">
                    <a:srgbClr val="92B9E4"/>
                  </a:gs>
                </a:gsLst>
                <a:lin ang="5400000"/>
              </a:gradFill>
              <a:ln w="6350">
                <a:solidFill>
                  <a:schemeClr val="accent1">
                    <a:lumMod val="100000"/>
                    <a:lumOff val="0"/>
                  </a:schemeClr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indent="14605"/>
                <a:endParaRPr lang="en-US" altLang="zh-TW" sz="1400" kern="1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indent="14605"/>
                <a:r>
                  <a:rPr lang="zh-TW" altLang="en-US" sz="1400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形態學處理</a:t>
                </a:r>
              </a:p>
              <a:p>
                <a:pPr indent="355591" algn="ctr"/>
                <a:r>
                  <a:rPr lang="en-US" sz="1400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 </a:t>
                </a:r>
                <a:endParaRPr lang="zh-TW" altLang="en-US" sz="1400" kern="1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群組 85">
                <a:extLst>
                  <a:ext uri="{FF2B5EF4-FFF2-40B4-BE49-F238E27FC236}">
                    <a16:creationId xmlns:a16="http://schemas.microsoft.com/office/drawing/2014/main" id="{443B38EC-8D1C-090C-ED53-276957E503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30" y="2598"/>
                <a:ext cx="2026" cy="2298"/>
                <a:chOff x="-12968" y="7954"/>
                <a:chExt cx="239395" cy="290195"/>
              </a:xfrm>
            </p:grpSpPr>
            <p:sp>
              <p:nvSpPr>
                <p:cNvPr id="48" name="Text Box 146">
                  <a:extLst>
                    <a:ext uri="{FF2B5EF4-FFF2-40B4-BE49-F238E27FC236}">
                      <a16:creationId xmlns:a16="http://schemas.microsoft.com/office/drawing/2014/main" id="{41BA43AF-7C73-5F62-1938-1D0D673A83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12968" y="7954"/>
                  <a:ext cx="239395" cy="2901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indent="228594" algn="just">
                    <a:lnSpc>
                      <a:spcPct val="150000"/>
                    </a:lnSpc>
                  </a:pPr>
                  <a:r>
                    <a:rPr lang="en-US" sz="900" kern="100">
                      <a:latin typeface="Times New Roman" panose="02020603050405020304" pitchFamily="18" charset="0"/>
                      <a:ea typeface="標楷體" panose="03000509000000000000" pitchFamily="65" charset="-120"/>
                      <a:cs typeface="Times New Roman" panose="02020603050405020304" pitchFamily="18" charset="0"/>
                    </a:rPr>
                    <a:t>*</a:t>
                  </a:r>
                  <a:endParaRPr lang="zh-TW" altLang="en-US" sz="1400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橢圓 110">
                  <a:extLst>
                    <a:ext uri="{FF2B5EF4-FFF2-40B4-BE49-F238E27FC236}">
                      <a16:creationId xmlns:a16="http://schemas.microsoft.com/office/drawing/2014/main" id="{5D95F15D-666A-080D-BF5C-AE16DE8D46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864" y="95097"/>
                  <a:ext cx="148133" cy="149961"/>
                </a:xfrm>
                <a:prstGeom prst="ellipse">
                  <a:avLst/>
                </a:prstGeom>
                <a:noFill/>
                <a:ln w="6350">
                  <a:solidFill>
                    <a:schemeClr val="tx1">
                      <a:lumMod val="100000"/>
                      <a:lumOff val="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ctr" anchorCtr="0" upright="1">
                  <a:noAutofit/>
                </a:bodyPr>
                <a:lstStyle/>
                <a:p>
                  <a:endParaRPr lang="zh-TW" altLang="en-US"/>
                </a:p>
              </p:txBody>
            </p:sp>
          </p:grpSp>
          <p:cxnSp>
            <p:nvCxnSpPr>
              <p:cNvPr id="25" name="直線單箭頭接點 86">
                <a:extLst>
                  <a:ext uri="{FF2B5EF4-FFF2-40B4-BE49-F238E27FC236}">
                    <a16:creationId xmlns:a16="http://schemas.microsoft.com/office/drawing/2014/main" id="{00DECBB4-895B-AD6C-694B-88E82CFEE65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793" y="3894"/>
                <a:ext cx="2160" cy="0"/>
              </a:xfrm>
              <a:prstGeom prst="straightConnector1">
                <a:avLst/>
              </a:prstGeom>
              <a:noFill/>
              <a:ln w="9525">
                <a:solidFill>
                  <a:srgbClr val="00B05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6" name="直線單箭頭接點 87">
                <a:extLst>
                  <a:ext uri="{FF2B5EF4-FFF2-40B4-BE49-F238E27FC236}">
                    <a16:creationId xmlns:a16="http://schemas.microsoft.com/office/drawing/2014/main" id="{343386AF-9B1C-4158-45A5-AC8DADA74FA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7084" y="3852"/>
                <a:ext cx="1440" cy="0"/>
              </a:xfrm>
              <a:prstGeom prst="straightConnector1">
                <a:avLst/>
              </a:prstGeom>
              <a:noFill/>
              <a:ln w="9525">
                <a:solidFill>
                  <a:srgbClr val="00B05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" name="直線接點 88">
                <a:extLst>
                  <a:ext uri="{FF2B5EF4-FFF2-40B4-BE49-F238E27FC236}">
                    <a16:creationId xmlns:a16="http://schemas.microsoft.com/office/drawing/2014/main" id="{0D7EB88E-40DD-ECD2-CFF5-2D14941700B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706" y="264"/>
                <a:ext cx="33325" cy="0"/>
              </a:xfrm>
              <a:prstGeom prst="line">
                <a:avLst/>
              </a:prstGeom>
              <a:noFill/>
              <a:ln w="6350">
                <a:solidFill>
                  <a:srgbClr val="00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" name="直線單箭頭接點 89">
                <a:extLst>
                  <a:ext uri="{FF2B5EF4-FFF2-40B4-BE49-F238E27FC236}">
                    <a16:creationId xmlns:a16="http://schemas.microsoft.com/office/drawing/2014/main" id="{EE1C5031-6712-7CA3-9E81-356B3932CF9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031" y="264"/>
                <a:ext cx="0" cy="2996"/>
              </a:xfrm>
              <a:prstGeom prst="straightConnector1">
                <a:avLst/>
              </a:prstGeom>
              <a:noFill/>
              <a:ln w="6350">
                <a:solidFill>
                  <a:srgbClr val="0000FF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肘形接點 27242562">
                <a:extLst>
                  <a:ext uri="{FF2B5EF4-FFF2-40B4-BE49-F238E27FC236}">
                    <a16:creationId xmlns:a16="http://schemas.microsoft.com/office/drawing/2014/main" id="{72BBA88F-C845-1D32-27B3-822FE7C91FD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6373" y="1905"/>
                <a:ext cx="1518" cy="1517"/>
              </a:xfrm>
              <a:prstGeom prst="bentConnector3">
                <a:avLst>
                  <a:gd name="adj1" fmla="val 29440"/>
                </a:avLst>
              </a:prstGeom>
              <a:noFill/>
              <a:ln w="6350">
                <a:solidFill>
                  <a:srgbClr val="00B05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肘形接點 27242563">
                <a:extLst>
                  <a:ext uri="{FF2B5EF4-FFF2-40B4-BE49-F238E27FC236}">
                    <a16:creationId xmlns:a16="http://schemas.microsoft.com/office/drawing/2014/main" id="{0708DB81-2C29-1EA4-EE9C-8E9D23C3DF5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6373" y="4318"/>
                <a:ext cx="1518" cy="1443"/>
              </a:xfrm>
              <a:prstGeom prst="bentConnector3">
                <a:avLst>
                  <a:gd name="adj1" fmla="val 30264"/>
                </a:avLst>
              </a:prstGeom>
              <a:noFill/>
              <a:ln w="6350">
                <a:solidFill>
                  <a:srgbClr val="00B05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" name="肘形接點 27242564">
                <a:extLst>
                  <a:ext uri="{FF2B5EF4-FFF2-40B4-BE49-F238E27FC236}">
                    <a16:creationId xmlns:a16="http://schemas.microsoft.com/office/drawing/2014/main" id="{09D3AC54-361A-4B6C-25DD-6F166D7FE98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31750" y="4318"/>
                <a:ext cx="2147" cy="1528"/>
              </a:xfrm>
              <a:prstGeom prst="bentConnector3">
                <a:avLst>
                  <a:gd name="adj1" fmla="val 29440"/>
                </a:avLst>
              </a:prstGeom>
              <a:noFill/>
              <a:ln w="6350">
                <a:solidFill>
                  <a:srgbClr val="00B05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" name="肘形接點 27242565">
                <a:extLst>
                  <a:ext uri="{FF2B5EF4-FFF2-40B4-BE49-F238E27FC236}">
                    <a16:creationId xmlns:a16="http://schemas.microsoft.com/office/drawing/2014/main" id="{CA97A984-E40C-F930-7A9D-D4E64B5027D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50" y="1905"/>
                <a:ext cx="2149" cy="1293"/>
              </a:xfrm>
              <a:prstGeom prst="bentConnector3">
                <a:avLst>
                  <a:gd name="adj1" fmla="val 30264"/>
                </a:avLst>
              </a:prstGeom>
              <a:noFill/>
              <a:ln w="6350">
                <a:solidFill>
                  <a:srgbClr val="00B05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pic>
            <p:nvPicPr>
              <p:cNvPr id="33" name="圖片 94" descr="一張含有 螢幕擷取畫面, 設計 的圖片&#10;&#10;自動產生的描述">
                <a:extLst>
                  <a:ext uri="{FF2B5EF4-FFF2-40B4-BE49-F238E27FC236}">
                    <a16:creationId xmlns:a16="http://schemas.microsoft.com/office/drawing/2014/main" id="{F428DFAF-64DC-0F24-CFFA-13129AA5A593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677" y="5125"/>
                <a:ext cx="2908" cy="21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4" name="Text Box 157">
                <a:extLst>
                  <a:ext uri="{FF2B5EF4-FFF2-40B4-BE49-F238E27FC236}">
                    <a16:creationId xmlns:a16="http://schemas.microsoft.com/office/drawing/2014/main" id="{1F033DEF-41A3-1805-0731-89EB084A97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69" y="6774"/>
                <a:ext cx="6160" cy="3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spAutoFit/>
              </a:bodyPr>
              <a:lstStyle/>
              <a:p>
                <a:pPr indent="126997" algn="ctr">
                  <a:lnSpc>
                    <a:spcPct val="150000"/>
                  </a:lnSpc>
                </a:pPr>
                <a:r>
                  <a:rPr lang="zh-TW" altLang="en-US" sz="1600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遮罩影像</a:t>
                </a:r>
              </a:p>
              <a:p>
                <a:pPr indent="126997" algn="ctr">
                  <a:lnSpc>
                    <a:spcPct val="150000"/>
                  </a:lnSpc>
                </a:pPr>
                <a:r>
                  <a:rPr lang="en-US" sz="1600" i="1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</a:t>
                </a:r>
                <a:r>
                  <a:rPr lang="en-US" sz="1600" i="1" kern="100" baseline="-25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endParaRPr lang="zh-TW" altLang="en-US" sz="1600" kern="1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Text Box 158">
                <a:extLst>
                  <a:ext uri="{FF2B5EF4-FFF2-40B4-BE49-F238E27FC236}">
                    <a16:creationId xmlns:a16="http://schemas.microsoft.com/office/drawing/2014/main" id="{5D637520-BC58-4B2C-D733-E14E681696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34" y="6224"/>
                <a:ext cx="6159" cy="3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spAutoFit/>
              </a:bodyPr>
              <a:lstStyle/>
              <a:p>
                <a:pPr indent="126997" algn="ctr">
                  <a:lnSpc>
                    <a:spcPct val="150000"/>
                  </a:lnSpc>
                </a:pPr>
                <a:r>
                  <a:rPr lang="zh-TW" altLang="en-US" sz="1600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檢測影像</a:t>
                </a:r>
              </a:p>
              <a:p>
                <a:pPr indent="126997" algn="ctr">
                  <a:lnSpc>
                    <a:spcPct val="150000"/>
                  </a:lnSpc>
                </a:pPr>
                <a:r>
                  <a:rPr lang="en-US" sz="1600" i="1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</a:t>
                </a:r>
                <a:r>
                  <a:rPr lang="en-US" sz="1600" kern="100" baseline="-25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en-US" sz="1600" i="1" kern="1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~ C</a:t>
                </a:r>
                <a:r>
                  <a:rPr lang="en-US" sz="1600" kern="100" baseline="-25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9</a:t>
                </a:r>
                <a:endParaRPr lang="zh-TW" altLang="en-US" sz="1600" kern="1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" name="群組 97">
                <a:extLst>
                  <a:ext uri="{FF2B5EF4-FFF2-40B4-BE49-F238E27FC236}">
                    <a16:creationId xmlns:a16="http://schemas.microsoft.com/office/drawing/2014/main" id="{D03A0501-29AF-37D5-2CD6-1B4BE9E855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83" y="889"/>
                <a:ext cx="3670" cy="5410"/>
                <a:chOff x="0" y="0"/>
                <a:chExt cx="3670" cy="5410"/>
              </a:xfrm>
            </p:grpSpPr>
            <p:sp>
              <p:nvSpPr>
                <p:cNvPr id="37" name="圓角矩形 27242570">
                  <a:extLst>
                    <a:ext uri="{FF2B5EF4-FFF2-40B4-BE49-F238E27FC236}">
                      <a16:creationId xmlns:a16="http://schemas.microsoft.com/office/drawing/2014/main" id="{1DDE3152-5670-2E6E-73AE-0272D03106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670" cy="5410"/>
                </a:xfrm>
                <a:prstGeom prst="roundRect">
                  <a:avLst>
                    <a:gd name="adj" fmla="val 16667"/>
                  </a:avLst>
                </a:prstGeom>
                <a:gradFill rotWithShape="1">
                  <a:gsLst>
                    <a:gs pos="0">
                      <a:srgbClr val="FFDD9C"/>
                    </a:gs>
                    <a:gs pos="50000">
                      <a:srgbClr val="FFD78E"/>
                    </a:gs>
                    <a:gs pos="100000">
                      <a:srgbClr val="FFD479"/>
                    </a:gs>
                  </a:gsLst>
                  <a:lin ang="5400000"/>
                </a:gradFill>
                <a:ln w="6350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ctr" anchorCtr="0" upright="1">
                  <a:noAutofit/>
                </a:bodyPr>
                <a:lstStyle/>
                <a:p>
                  <a:endParaRPr lang="zh-TW" altLang="en-US"/>
                </a:p>
              </p:txBody>
            </p:sp>
            <p:pic>
              <p:nvPicPr>
                <p:cNvPr id="38" name="圖片 99">
                  <a:extLst>
                    <a:ext uri="{FF2B5EF4-FFF2-40B4-BE49-F238E27FC236}">
                      <a16:creationId xmlns:a16="http://schemas.microsoft.com/office/drawing/2014/main" id="{98976DFD-8AF7-CD88-4DE1-C6619E4D8483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1" y="358"/>
                  <a:ext cx="1511" cy="89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9" name="圖片 100">
                  <a:extLst>
                    <a:ext uri="{FF2B5EF4-FFF2-40B4-BE49-F238E27FC236}">
                      <a16:creationId xmlns:a16="http://schemas.microsoft.com/office/drawing/2014/main" id="{6EC48A75-6BC8-603C-6019-42CA4097875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2" y="1319"/>
                  <a:ext cx="1512" cy="89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0" name="圖片 101">
                  <a:extLst>
                    <a:ext uri="{FF2B5EF4-FFF2-40B4-BE49-F238E27FC236}">
                      <a16:creationId xmlns:a16="http://schemas.microsoft.com/office/drawing/2014/main" id="{479C4A91-4F3A-B7A8-54E4-BD9EF139CC5B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2" y="2281"/>
                  <a:ext cx="1512" cy="89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1" name="圖片 102">
                  <a:extLst>
                    <a:ext uri="{FF2B5EF4-FFF2-40B4-BE49-F238E27FC236}">
                      <a16:creationId xmlns:a16="http://schemas.microsoft.com/office/drawing/2014/main" id="{9A5BDB90-FDD8-3A23-51C6-1AFBBBCA76F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2" y="3280"/>
                  <a:ext cx="1512" cy="89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2" name="圖片 103">
                  <a:extLst>
                    <a:ext uri="{FF2B5EF4-FFF2-40B4-BE49-F238E27FC236}">
                      <a16:creationId xmlns:a16="http://schemas.microsoft.com/office/drawing/2014/main" id="{E19A9CFB-A859-3953-0459-03084EC094DE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2" y="4260"/>
                  <a:ext cx="1512" cy="89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3" name="圖片 104">
                  <a:extLst>
                    <a:ext uri="{FF2B5EF4-FFF2-40B4-BE49-F238E27FC236}">
                      <a16:creationId xmlns:a16="http://schemas.microsoft.com/office/drawing/2014/main" id="{930CB0B1-3F77-2A9D-481E-AD7EA8AE5123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04" y="358"/>
                  <a:ext cx="1511" cy="89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4" name="圖片 105">
                  <a:extLst>
                    <a:ext uri="{FF2B5EF4-FFF2-40B4-BE49-F238E27FC236}">
                      <a16:creationId xmlns:a16="http://schemas.microsoft.com/office/drawing/2014/main" id="{F26B0E1F-DC0E-1513-C33E-3CCB114230F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04" y="1338"/>
                  <a:ext cx="1511" cy="89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5" name="圖片 106">
                  <a:extLst>
                    <a:ext uri="{FF2B5EF4-FFF2-40B4-BE49-F238E27FC236}">
                      <a16:creationId xmlns:a16="http://schemas.microsoft.com/office/drawing/2014/main" id="{99D3C744-D5C9-CA77-751C-FAB946415FA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04" y="2319"/>
                  <a:ext cx="1511" cy="89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6" name="圖片 107">
                  <a:extLst>
                    <a:ext uri="{FF2B5EF4-FFF2-40B4-BE49-F238E27FC236}">
                      <a16:creationId xmlns:a16="http://schemas.microsoft.com/office/drawing/2014/main" id="{7F71107A-B240-D2C3-0995-855DED70D88E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04" y="3299"/>
                  <a:ext cx="1511" cy="89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7" name="圖片 108">
                  <a:extLst>
                    <a:ext uri="{FF2B5EF4-FFF2-40B4-BE49-F238E27FC236}">
                      <a16:creationId xmlns:a16="http://schemas.microsoft.com/office/drawing/2014/main" id="{495C8482-01E9-56AE-62DA-722DD3B80A2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85" y="4298"/>
                  <a:ext cx="1511" cy="89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05460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C59DFD-B6D4-FB69-F8AD-1A3A91C32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91E425-5AD3-7F4F-6BE6-55BAA92A9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018" y="745440"/>
            <a:ext cx="3611029" cy="1862345"/>
          </a:xfrm>
        </p:spPr>
        <p:txBody>
          <a:bodyPr>
            <a:normAutofit/>
          </a:bodyPr>
          <a:lstStyle/>
          <a:p>
            <a:pPr algn="ctr"/>
            <a:r>
              <a:rPr lang="ja-JP" altLang="en-US" dirty="0">
                <a:solidFill>
                  <a:srgbClr val="0815B8"/>
                </a:solidFill>
                <a:latin typeface="dfkai-sb"/>
                <a:ea typeface="Meiryo"/>
                <a:cs typeface="Arial"/>
              </a:rPr>
              <a:t>影像</a:t>
            </a:r>
            <a:r>
              <a:rPr lang="zh-TW" altLang="en-US" dirty="0">
                <a:solidFill>
                  <a:srgbClr val="0815B8"/>
                </a:solidFill>
                <a:latin typeface="dfkai-sb"/>
                <a:ea typeface="Meiryo"/>
                <a:cs typeface="Arial"/>
              </a:rPr>
              <a:t>疊加處理</a:t>
            </a:r>
            <a:endParaRPr lang="ja-JP" altLang="en-US" dirty="0">
              <a:solidFill>
                <a:srgbClr val="0815B8"/>
              </a:solidFill>
              <a:latin typeface="dfkai-sb"/>
              <a:ea typeface="Meiryo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BBDC0-01F5-ACC8-CAB4-7A2BA476A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726" y="2625830"/>
            <a:ext cx="4185411" cy="222111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選擇以</a:t>
            </a:r>
            <a:r>
              <a:rPr lang="en-US" altLang="zh-TW" sz="2400" i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I</a:t>
            </a:r>
            <a:r>
              <a:rPr lang="en-US" altLang="zh-TW" sz="2400" baseline="-250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1 </a:t>
            </a: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2400" i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I</a:t>
            </a:r>
            <a:r>
              <a:rPr lang="en-US" altLang="zh-TW" sz="2400" baseline="-250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6</a:t>
            </a:r>
            <a:r>
              <a:rPr lang="en-US" altLang="zh-TW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</a:t>
            </a: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2400" i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I</a:t>
            </a:r>
            <a:r>
              <a:rPr lang="en-US" altLang="zh-TW" sz="2400" baseline="-250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7 </a:t>
            </a: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2400" i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I</a:t>
            </a:r>
            <a:r>
              <a:rPr lang="en-US" altLang="zh-TW" sz="2400" baseline="-250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8</a:t>
            </a:r>
            <a:r>
              <a:rPr lang="en-US" altLang="zh-TW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 </a:t>
            </a:r>
            <a:r>
              <a:rPr lang="zh-TW" altLang="en-US" sz="2400" b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新細明體" panose="02020500000000000000" pitchFamily="18" charset="-120"/>
              </a:rPr>
              <a:t>和</a:t>
            </a:r>
            <a:endParaRPr lang="en-US" altLang="zh-TW" sz="2400" b="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新細明體" panose="02020500000000000000" pitchFamily="18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400" i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I</a:t>
            </a:r>
            <a:r>
              <a:rPr lang="en-US" altLang="zh-TW" sz="2400" baseline="-250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9</a:t>
            </a: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這幾張特徵影像進行疊加處理，以此獲得更加清晰和集中的前景資訊</a:t>
            </a:r>
            <a:endParaRPr lang="en-US" sz="2400" b="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170125DA-DBF2-3CDF-0983-2D653D1C4480}"/>
              </a:ext>
            </a:extLst>
          </p:cNvPr>
          <p:cNvGrpSpPr/>
          <p:nvPr/>
        </p:nvGrpSpPr>
        <p:grpSpPr>
          <a:xfrm>
            <a:off x="6021179" y="1162961"/>
            <a:ext cx="4866838" cy="4609113"/>
            <a:chOff x="30198" y="-411783"/>
            <a:chExt cx="4854368" cy="4172931"/>
          </a:xfrm>
        </p:grpSpPr>
        <p:sp>
          <p:nvSpPr>
            <p:cNvPr id="5" name="文字方塊 2">
              <a:extLst>
                <a:ext uri="{FF2B5EF4-FFF2-40B4-BE49-F238E27FC236}">
                  <a16:creationId xmlns:a16="http://schemas.microsoft.com/office/drawing/2014/main" id="{AE2FEFBC-2FC6-CD4A-1D64-6AF26E7B0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827" y="3202985"/>
              <a:ext cx="4401707" cy="558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indent="187960" algn="ctr" defTabSz="1353312">
                <a:lnSpc>
                  <a:spcPct val="150000"/>
                </a:lnSpc>
                <a:spcAft>
                  <a:spcPts val="600"/>
                </a:spcAft>
              </a:pPr>
              <a:r>
                <a:rPr lang="zh-TW" altLang="en-US" sz="2000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影像疊加後的結果影像</a:t>
              </a:r>
              <a:endParaRPr lang="zh-TW" sz="20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pic>
          <p:nvPicPr>
            <p:cNvPr id="7" name="图片 7" descr="一張含有 Rectangle, 黑與白, 單色, 視窗 的圖片&#10;&#10;自動產生的描述">
              <a:extLst>
                <a:ext uri="{FF2B5EF4-FFF2-40B4-BE49-F238E27FC236}">
                  <a16:creationId xmlns:a16="http://schemas.microsoft.com/office/drawing/2014/main" id="{6D74E96F-DE92-12A2-5784-78D4E6DBA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0198" y="-411783"/>
              <a:ext cx="4854368" cy="36439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252309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BCF3E-BF3B-4026-E0DF-4B6AA26A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45440"/>
            <a:ext cx="3611029" cy="1862345"/>
          </a:xfrm>
        </p:spPr>
        <p:txBody>
          <a:bodyPr>
            <a:normAutofit/>
          </a:bodyPr>
          <a:lstStyle/>
          <a:p>
            <a:pPr algn="ctr"/>
            <a:r>
              <a:rPr lang="ja-JP" altLang="en-US" sz="4000" dirty="0">
                <a:solidFill>
                  <a:srgbClr val="0815B8"/>
                </a:solidFill>
                <a:latin typeface="dfkai-sb"/>
                <a:ea typeface="Meiryo"/>
                <a:cs typeface="Arial"/>
              </a:rPr>
              <a:t>影像二值化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BC0E0E-5D30-CF94-1616-BAB187BA5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87" y="2269941"/>
            <a:ext cx="4696290" cy="284013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進行二值化處理時，電路區域因</a:t>
            </a:r>
            <a:r>
              <a:rPr lang="zh-TW" altLang="en-US" sz="2400" b="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亮度較高</a:t>
            </a: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而轉變為</a:t>
            </a:r>
            <a:r>
              <a:rPr lang="zh-TW" altLang="en-US" sz="2400" b="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白色</a:t>
            </a: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，背景區域則因</a:t>
            </a:r>
            <a:r>
              <a:rPr lang="zh-TW" altLang="en-US" sz="2400" b="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亮度較低</a:t>
            </a: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而呈現為</a:t>
            </a:r>
            <a:r>
              <a:rPr lang="zh-TW" altLang="en-US" sz="2400" b="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黑色</a:t>
            </a: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。此方法有效地區分了電路與背景</a:t>
            </a:r>
            <a:endParaRPr lang="en-US" sz="2400" b="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字方塊 2">
            <a:extLst>
              <a:ext uri="{FF2B5EF4-FFF2-40B4-BE49-F238E27FC236}">
                <a16:creationId xmlns:a16="http://schemas.microsoft.com/office/drawing/2014/main" id="{3A990C77-010A-3989-55C6-22E49F3CD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2333" y="5232728"/>
            <a:ext cx="3946525" cy="4159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indent="127000" algn="ctr">
              <a:lnSpc>
                <a:spcPct val="150000"/>
              </a:lnSpc>
            </a:pPr>
            <a:r>
              <a:rPr lang="zh-TW" sz="20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影像二值化後結果</a:t>
            </a:r>
          </a:p>
        </p:txBody>
      </p:sp>
      <p:pic>
        <p:nvPicPr>
          <p:cNvPr id="7" name="圖片 6" descr="一張含有 螢幕擷取畫面, 文字, 寫生, Rectangle 的圖片&#10;&#10;自動產生的描述">
            <a:extLst>
              <a:ext uri="{FF2B5EF4-FFF2-40B4-BE49-F238E27FC236}">
                <a16:creationId xmlns:a16="http://schemas.microsoft.com/office/drawing/2014/main" id="{A2AAC7B7-CD43-B9B4-68B9-BA70612F16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884" y="1100057"/>
            <a:ext cx="5375431" cy="40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469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ED966-558D-7B55-B22D-4E5073566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048601C-BCC6-BEF6-4A4B-05FA49C87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F06247-8950-A24D-4552-C4396EE90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DA5C48-1FFE-F264-1719-4736D0B90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231" y="790313"/>
            <a:ext cx="4646201" cy="1862345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zh-TW" sz="3100" dirty="0">
                <a:solidFill>
                  <a:srgbClr val="0815B8"/>
                </a:solidFill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聯通元件標籤處理</a:t>
            </a:r>
            <a:r>
              <a:rPr lang="en-US" altLang="zh-TW" sz="2400" dirty="0">
                <a:solidFill>
                  <a:srgbClr val="0815B8"/>
                </a:solidFill>
                <a:effectLst/>
                <a:ea typeface="標楷體" panose="03000509000000000000" pitchFamily="65" charset="-120"/>
              </a:rPr>
              <a:t>(Connected Components Labeling, CCL)</a:t>
            </a:r>
            <a:endParaRPr lang="ja-JP" altLang="en-US" sz="2400" dirty="0">
              <a:solidFill>
                <a:srgbClr val="0815B8"/>
              </a:solidFill>
              <a:ea typeface="Meiryo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732648-4FD2-79B0-2E48-E83EAB4EF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C1034-CFCB-BCF4-878C-505A96A98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2" y="2785273"/>
            <a:ext cx="4492538" cy="284013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於二值圖像中辨識並標記相鄰像素群組，將每個聯通區域賦予標籤</a:t>
            </a:r>
            <a:endParaRPr lang="en-US" sz="2400" b="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FB1F47-B91E-F2EE-AB81-BA727D102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E6A476-2CED-F2AA-1865-E0DDB0A66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9627F9-EAC2-12AB-EFDF-3B37DBB3D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C934F0-3CAC-CF4F-AD72-21BEB565B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5EEFC6-0E15-E95C-5EBB-81BDBAA6C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E4213A1-1673-F78D-D97A-56E568704A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558" y="1072110"/>
            <a:ext cx="5374077" cy="4024800"/>
          </a:xfrm>
          <a:prstGeom prst="rect">
            <a:avLst/>
          </a:prstGeom>
        </p:spPr>
      </p:pic>
      <p:sp>
        <p:nvSpPr>
          <p:cNvPr id="4" name="文字方塊 2">
            <a:extLst>
              <a:ext uri="{FF2B5EF4-FFF2-40B4-BE49-F238E27FC236}">
                <a16:creationId xmlns:a16="http://schemas.microsoft.com/office/drawing/2014/main" id="{BD4A4021-0EB2-48B1-AE6C-3C17F1CC3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6047" y="5217064"/>
            <a:ext cx="3467100" cy="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TW" sz="2000" kern="100" dirty="0">
                <a:effectLst/>
                <a:latin typeface="Palatino Linotype" panose="0204050205050503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遮罩影像</a:t>
            </a:r>
            <a:r>
              <a:rPr lang="en-US" sz="2000" kern="100" dirty="0">
                <a:effectLst/>
                <a:latin typeface="Palatino Linotype" panose="0204050205050503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sz="2000" kern="100" dirty="0">
                <a:effectLst/>
                <a:latin typeface="Palatino Linotype" panose="0204050205050503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形態學處理前</a:t>
            </a:r>
            <a:r>
              <a:rPr lang="en-US" sz="2000" kern="100" dirty="0">
                <a:effectLst/>
                <a:latin typeface="Palatino Linotype" panose="0204050205050503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sz="20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875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2DF47-0D25-7240-78EF-70E588DA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40D42F-8184-053C-60BD-E39E3F807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90313"/>
            <a:ext cx="3611029" cy="186234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>
                <a:solidFill>
                  <a:srgbClr val="0815B8"/>
                </a:solidFill>
                <a:latin typeface="dfkai-sb"/>
                <a:ea typeface="Meiryo"/>
                <a:cs typeface="Arial"/>
              </a:rPr>
              <a:t>形象學</a:t>
            </a:r>
            <a:endParaRPr lang="ja-JP" altLang="en-US" dirty="0">
              <a:solidFill>
                <a:srgbClr val="0815B8"/>
              </a:solidFill>
              <a:latin typeface="dfkai-sb"/>
              <a:ea typeface="Meiryo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309C1-6DA2-F70A-7379-A41C20031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39062"/>
            <a:ext cx="4732543" cy="284013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進行形態學中的閉運算</a:t>
            </a:r>
            <a:r>
              <a:rPr lang="en-US" altLang="zh-TW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(Close)</a:t>
            </a: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此操作目的在於填補前景電路區域 內的小孔洞和斷裂，同時平滑化邊界</a:t>
            </a:r>
            <a:endParaRPr lang="en-US" sz="2400" b="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4156126-3D06-0BB0-DE82-B65AF6BCB5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561" y="1072110"/>
            <a:ext cx="5374077" cy="4024800"/>
          </a:xfrm>
          <a:prstGeom prst="rect">
            <a:avLst/>
          </a:prstGeom>
        </p:spPr>
      </p:pic>
      <p:sp>
        <p:nvSpPr>
          <p:cNvPr id="8" name="文字方塊 2">
            <a:extLst>
              <a:ext uri="{FF2B5EF4-FFF2-40B4-BE49-F238E27FC236}">
                <a16:creationId xmlns:a16="http://schemas.microsoft.com/office/drawing/2014/main" id="{544F575C-E396-976C-20BD-4E8FF3EDB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810" y="5179201"/>
            <a:ext cx="2758440" cy="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TW" sz="2000" kern="100" dirty="0">
                <a:effectLst/>
                <a:latin typeface="Palatino Linotype" panose="0204050205050503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完成的遮罩影像</a:t>
            </a:r>
            <a:endParaRPr lang="zh-TW" sz="20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502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4A11AF0-D1B6-B46E-6AAD-A05721E73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6575" y="319920"/>
            <a:ext cx="6166422" cy="457200"/>
          </a:xfrm>
        </p:spPr>
        <p:txBody>
          <a:bodyPr>
            <a:noAutofit/>
          </a:bodyPr>
          <a:lstStyle/>
          <a:p>
            <a:pPr algn="ctr"/>
            <a:r>
              <a:rPr lang="zh-TW" altLang="en-US" sz="3200" dirty="0">
                <a:solidFill>
                  <a:srgbClr val="0815B8"/>
                </a:solidFill>
              </a:rPr>
              <a:t>原始影像</a:t>
            </a: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2E331662-E46A-DAEF-AC50-C226DBBD3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84130" y="3661844"/>
            <a:ext cx="6166421" cy="457200"/>
          </a:xfrm>
        </p:spPr>
        <p:txBody>
          <a:bodyPr>
            <a:noAutofit/>
          </a:bodyPr>
          <a:lstStyle/>
          <a:p>
            <a:pPr algn="ctr"/>
            <a:r>
              <a:rPr lang="zh-TW" altLang="en-US" sz="3200" dirty="0">
                <a:solidFill>
                  <a:srgbClr val="0815B8"/>
                </a:solidFill>
              </a:rPr>
              <a:t>僅包含電路區域</a:t>
            </a:r>
            <a:r>
              <a:rPr lang="en-US" altLang="zh-TW" sz="3200" dirty="0">
                <a:solidFill>
                  <a:srgbClr val="0815B8"/>
                </a:solidFill>
              </a:rPr>
              <a:t>(</a:t>
            </a:r>
            <a:r>
              <a:rPr lang="zh-TW" altLang="en-US" sz="3200" dirty="0">
                <a:solidFill>
                  <a:srgbClr val="0815B8"/>
                </a:solidFill>
              </a:rPr>
              <a:t>檢測影像</a:t>
            </a:r>
            <a:r>
              <a:rPr lang="en-US" altLang="zh-TW" sz="3200" dirty="0">
                <a:solidFill>
                  <a:srgbClr val="0815B8"/>
                </a:solidFill>
              </a:rPr>
              <a:t>)</a:t>
            </a:r>
            <a:endParaRPr lang="zh-TW" altLang="en-US" sz="3200" dirty="0">
              <a:solidFill>
                <a:srgbClr val="0815B8"/>
              </a:solidFill>
            </a:endParaRPr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5E20B852-6827-430E-835C-C1BD173D0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759" y="2089979"/>
            <a:ext cx="4294042" cy="2552400"/>
          </a:xfrm>
        </p:spPr>
        <p:txBody>
          <a:bodyPr>
            <a:normAutofit/>
          </a:bodyPr>
          <a:lstStyle/>
          <a:p>
            <a:r>
              <a:rPr lang="zh-TW" altLang="en-US" dirty="0"/>
              <a:t>原始特徵影像和</a:t>
            </a:r>
            <a:br>
              <a:rPr lang="en-US" altLang="zh-TW" dirty="0"/>
            </a:br>
            <a:r>
              <a:rPr lang="zh-TW" altLang="en-US" dirty="0"/>
              <a:t>檢測影像的對比</a:t>
            </a: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B56A61A1-1931-23DA-308D-7B39BDF356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355" y="705113"/>
            <a:ext cx="3411973" cy="2553830"/>
          </a:xfrm>
          <a:prstGeom prst="rect">
            <a:avLst/>
          </a:prstGeom>
        </p:spPr>
      </p:pic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D0D1D606-66DF-7515-7D8A-AE7406F11CF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268" y="4119044"/>
            <a:ext cx="3410060" cy="25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91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1EAE23-BED1-C3A0-BB10-C1A532CD7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2356" y="2055210"/>
            <a:ext cx="5967287" cy="2524216"/>
          </a:xfrm>
        </p:spPr>
        <p:txBody>
          <a:bodyPr>
            <a:normAutofit/>
          </a:bodyPr>
          <a:lstStyle/>
          <a:p>
            <a:pPr algn="ctr"/>
            <a:r>
              <a:rPr lang="zh-TW" altLang="en-US" sz="4800" dirty="0">
                <a:solidFill>
                  <a:schemeClr val="bg1">
                    <a:lumMod val="95000"/>
                  </a:schemeClr>
                </a:solidFill>
              </a:rPr>
              <a:t>特徵影像預處理</a:t>
            </a:r>
          </a:p>
        </p:txBody>
      </p:sp>
    </p:spTree>
    <p:extLst>
      <p:ext uri="{BB962C8B-B14F-4D97-AF65-F5344CB8AC3E}">
        <p14:creationId xmlns:p14="http://schemas.microsoft.com/office/powerpoint/2010/main" val="32837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5366305-53AA-956A-1329-17FA4B1B4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231" y="765228"/>
            <a:ext cx="4641058" cy="1862345"/>
          </a:xfr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TW" altLang="en-US" sz="4000" kern="150" dirty="0">
                <a:solidFill>
                  <a:srgbClr val="0815B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垂直線和水平線</a:t>
            </a:r>
            <a:br>
              <a:rPr lang="en-US" altLang="zh-TW" sz="4000" kern="150" dirty="0">
                <a:solidFill>
                  <a:srgbClr val="0815B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</a:br>
            <a:r>
              <a:rPr lang="zh-TW" altLang="en-US" sz="4000" kern="150" dirty="0">
                <a:solidFill>
                  <a:srgbClr val="0815B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的定位</a:t>
            </a:r>
            <a:endParaRPr lang="en-US" altLang="zh-TW" sz="4000" kern="150" dirty="0">
              <a:solidFill>
                <a:srgbClr val="0815B8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EDD749-110A-689C-6718-192EF77CA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7775" y="2567599"/>
            <a:ext cx="5025709" cy="33256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>
              <a:lnSpc>
                <a:spcPct val="90000"/>
              </a:lnSpc>
              <a:spcBef>
                <a:spcPts val="1000"/>
              </a:spcBef>
            </a:pP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為了能規則的分割影像，首先決定檢測區域的矩形</a:t>
            </a:r>
            <a:endParaRPr lang="en-US" altLang="zh-TW" sz="2400" b="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27965" indent="-227965">
              <a:lnSpc>
                <a:spcPct val="90000"/>
              </a:lnSpc>
              <a:spcBef>
                <a:spcPts val="1000"/>
              </a:spcBef>
            </a:pPr>
            <a:endParaRPr lang="en-US" altLang="zh-TW" sz="2400" b="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27965" indent="-227965">
              <a:lnSpc>
                <a:spcPct val="90000"/>
              </a:lnSpc>
              <a:spcBef>
                <a:spcPts val="1000"/>
              </a:spcBef>
            </a:pPr>
            <a:r>
              <a:rPr lang="en-US" altLang="zh-TW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本研究利用 </a:t>
            </a:r>
            <a:r>
              <a:rPr lang="en-US" altLang="zh-TW" sz="2400" b="0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Houghtransforms</a:t>
            </a:r>
            <a:r>
              <a:rPr lang="en-US" altLang="zh-TW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演算法找出 </a:t>
            </a:r>
            <a:r>
              <a:rPr lang="en-US" altLang="zh-TW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 </a:t>
            </a: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條垂直線</a:t>
            </a:r>
            <a:r>
              <a:rPr lang="en-US" altLang="zh-TW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紅色</a:t>
            </a:r>
            <a:r>
              <a:rPr lang="en-US" altLang="zh-TW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和</a:t>
            </a:r>
            <a:r>
              <a:rPr lang="en-US" altLang="zh-TW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條水平線</a:t>
            </a:r>
            <a:r>
              <a:rPr lang="en-US" altLang="zh-TW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綠色</a:t>
            </a:r>
            <a:r>
              <a:rPr lang="en-US" altLang="zh-TW" sz="2400" b="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400" b="0" i="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16" descr="一張含有 螢幕擷取畫面, 鮮豔, 正方形, Rectangle 的圖片&#10;&#10;自動產生的描述">
            <a:extLst>
              <a:ext uri="{FF2B5EF4-FFF2-40B4-BE49-F238E27FC236}">
                <a16:creationId xmlns:a16="http://schemas.microsoft.com/office/drawing/2014/main" id="{EC9C0B6A-E742-AFD5-4226-D3ACB86CB4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98622" y="1038442"/>
            <a:ext cx="5306828" cy="402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文字方塊 2">
            <a:extLst>
              <a:ext uri="{FF2B5EF4-FFF2-40B4-BE49-F238E27FC236}">
                <a16:creationId xmlns:a16="http://schemas.microsoft.com/office/drawing/2014/main" id="{6A91D913-7DE8-E2FA-FACC-335F0EB55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770" y="5124532"/>
            <a:ext cx="4848520" cy="39941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/>
          <a:lstStyle/>
          <a:p>
            <a:pPr indent="127000" algn="ctr">
              <a:lnSpc>
                <a:spcPct val="150000"/>
              </a:lnSpc>
            </a:pPr>
            <a:r>
              <a:rPr lang="zh-TW" sz="20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決定檢測區域的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sz="20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條垂直線和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sz="20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條水平線</a:t>
            </a:r>
          </a:p>
          <a:p>
            <a:pPr indent="127000" algn="ctr">
              <a:lnSpc>
                <a:spcPct val="150000"/>
              </a:lnSpc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endParaRPr lang="zh-TW" sz="20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indent="127000" algn="ctr">
              <a:lnSpc>
                <a:spcPct val="150000"/>
              </a:lnSpc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endParaRPr lang="zh-TW" sz="20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814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BCF3E-BF3B-4026-E0DF-4B6AA26A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9713" y="810038"/>
            <a:ext cx="5111246" cy="186234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4000" dirty="0">
                <a:solidFill>
                  <a:srgbClr val="0815B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檢測區域角點</a:t>
            </a:r>
            <a:br>
              <a:rPr lang="en-US" altLang="ja-JP" sz="4000" dirty="0">
                <a:solidFill>
                  <a:srgbClr val="0815B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</a:br>
            <a:r>
              <a:rPr lang="ja-JP" altLang="en-US" sz="4000" dirty="0">
                <a:solidFill>
                  <a:srgbClr val="0815B8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的定位</a:t>
            </a:r>
            <a:endParaRPr lang="en-US" sz="4000" dirty="0">
              <a:solidFill>
                <a:srgbClr val="0815B8"/>
              </a:solidFill>
              <a:latin typeface="標楷體" panose="03000509000000000000" pitchFamily="65" charset="-120"/>
              <a:ea typeface="標楷體" panose="03000509000000000000" pitchFamily="65" charset="-120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BC0E0E-5D30-CF94-1616-BAB187BA5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11" y="2555848"/>
            <a:ext cx="4656434" cy="28401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sz="2400" b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將直線的方程式轉化為線性方程組的形式，再使用</a:t>
            </a:r>
            <a:r>
              <a:rPr lang="en-US" sz="2400" b="0" dirty="0" err="1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np.linalg.solve</a:t>
            </a:r>
            <a:r>
              <a:rPr lang="en-US" sz="2400" b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()</a:t>
            </a:r>
            <a:r>
              <a:rPr lang="ja-JP" altLang="en-US" sz="2400" b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函數解決線性方程組，得到交點坐標</a:t>
            </a:r>
            <a:r>
              <a:rPr lang="en-US" sz="2400" b="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。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19" descr="一張含有 螢幕擷取畫面, Rectangle, 設計 的圖片&#10;&#10;自動產生的描述">
            <a:extLst>
              <a:ext uri="{FF2B5EF4-FFF2-40B4-BE49-F238E27FC236}">
                <a16:creationId xmlns:a16="http://schemas.microsoft.com/office/drawing/2014/main" id="{033FF49B-9C6A-DCE2-6DB5-A2945FEF3C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54164" y="1072110"/>
            <a:ext cx="5400870" cy="402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字方塊 2">
            <a:extLst>
              <a:ext uri="{FF2B5EF4-FFF2-40B4-BE49-F238E27FC236}">
                <a16:creationId xmlns:a16="http://schemas.microsoft.com/office/drawing/2014/main" id="{47A87FB5-DBD6-46CD-23DE-4C4F11E36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103827"/>
            <a:ext cx="4388593" cy="406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indent="355600" algn="ctr">
              <a:lnSpc>
                <a:spcPct val="150000"/>
              </a:lnSpc>
            </a:pPr>
            <a:r>
              <a:rPr lang="zh-TW" sz="20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定義檢測區域的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sz="20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個矩形角點</a:t>
            </a:r>
          </a:p>
        </p:txBody>
      </p:sp>
    </p:spTree>
    <p:extLst>
      <p:ext uri="{BB962C8B-B14F-4D97-AF65-F5344CB8AC3E}">
        <p14:creationId xmlns:p14="http://schemas.microsoft.com/office/powerpoint/2010/main" val="1664508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4EE865D-5A59-4DD1-A94D-A8DBE4A9E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23EFB5-5855-497F-AC57-6C194148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8455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群組 6">
            <a:extLst>
              <a:ext uri="{FF2B5EF4-FFF2-40B4-BE49-F238E27FC236}">
                <a16:creationId xmlns:a16="http://schemas.microsoft.com/office/drawing/2014/main" id="{7751A7F5-40E0-CB01-0B44-0E0BEB6148B3}"/>
              </a:ext>
            </a:extLst>
          </p:cNvPr>
          <p:cNvGrpSpPr>
            <a:grpSpLocks/>
          </p:cNvGrpSpPr>
          <p:nvPr/>
        </p:nvGrpSpPr>
        <p:grpSpPr bwMode="auto">
          <a:xfrm>
            <a:off x="1402103" y="1925229"/>
            <a:ext cx="10048820" cy="3437073"/>
            <a:chOff x="-816" y="0"/>
            <a:chExt cx="86984" cy="35911"/>
          </a:xfrm>
        </p:grpSpPr>
        <p:pic>
          <p:nvPicPr>
            <p:cNvPr id="3" name="圖片 8">
              <a:extLst>
                <a:ext uri="{FF2B5EF4-FFF2-40B4-BE49-F238E27FC236}">
                  <a16:creationId xmlns:a16="http://schemas.microsoft.com/office/drawing/2014/main" id="{D7B0568C-F04E-7AF5-6FD2-5D975B733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56082" y="17650"/>
              <a:ext cx="7864" cy="12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圖片 9">
              <a:extLst>
                <a:ext uri="{FF2B5EF4-FFF2-40B4-BE49-F238E27FC236}">
                  <a16:creationId xmlns:a16="http://schemas.microsoft.com/office/drawing/2014/main" id="{942788A9-C63F-D0E1-4DC7-59453CEF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172" y="182"/>
              <a:ext cx="7814" cy="12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圖片 10">
              <a:extLst>
                <a:ext uri="{FF2B5EF4-FFF2-40B4-BE49-F238E27FC236}">
                  <a16:creationId xmlns:a16="http://schemas.microsoft.com/office/drawing/2014/main" id="{EFBFE6BE-89BF-B6F9-B787-A7DB0807C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1533" y="182"/>
              <a:ext cx="7814" cy="12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圖片 11">
              <a:extLst>
                <a:ext uri="{FF2B5EF4-FFF2-40B4-BE49-F238E27FC236}">
                  <a16:creationId xmlns:a16="http://schemas.microsoft.com/office/drawing/2014/main" id="{FCD3B913-F68D-B54F-4EE6-45DEC9863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8733" y="0"/>
              <a:ext cx="7837" cy="121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圖片 12">
              <a:extLst>
                <a:ext uri="{FF2B5EF4-FFF2-40B4-BE49-F238E27FC236}">
                  <a16:creationId xmlns:a16="http://schemas.microsoft.com/office/drawing/2014/main" id="{A39A0F1E-34B4-0A17-61A8-0E48D7724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55955" y="0"/>
              <a:ext cx="7814" cy="12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圖片 13">
              <a:extLst>
                <a:ext uri="{FF2B5EF4-FFF2-40B4-BE49-F238E27FC236}">
                  <a16:creationId xmlns:a16="http://schemas.microsoft.com/office/drawing/2014/main" id="{9E835B65-3FB0-CA98-A4B4-352650764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2970" y="0"/>
              <a:ext cx="7889" cy="122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圖片 14">
              <a:extLst>
                <a:ext uri="{FF2B5EF4-FFF2-40B4-BE49-F238E27FC236}">
                  <a16:creationId xmlns:a16="http://schemas.microsoft.com/office/drawing/2014/main" id="{1DD63322-C34E-E951-94FF-B6EB5F883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199" y="17819"/>
              <a:ext cx="7797" cy="12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圖片 15">
              <a:extLst>
                <a:ext uri="{FF2B5EF4-FFF2-40B4-BE49-F238E27FC236}">
                  <a16:creationId xmlns:a16="http://schemas.microsoft.com/office/drawing/2014/main" id="{CD522B8F-6181-1E65-7102-5129C3130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1374" y="17732"/>
              <a:ext cx="7853" cy="12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圖片 16">
              <a:extLst>
                <a:ext uri="{FF2B5EF4-FFF2-40B4-BE49-F238E27FC236}">
                  <a16:creationId xmlns:a16="http://schemas.microsoft.com/office/drawing/2014/main" id="{1AEDBDDD-C162-8B6A-44AD-45C80B330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8733" y="17671"/>
              <a:ext cx="7837" cy="121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圖片 17">
              <a:extLst>
                <a:ext uri="{FF2B5EF4-FFF2-40B4-BE49-F238E27FC236}">
                  <a16:creationId xmlns:a16="http://schemas.microsoft.com/office/drawing/2014/main" id="{70116F81-FAC2-6D59-C1B2-23B0D760C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3420" y="17619"/>
              <a:ext cx="7870" cy="12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9EF6BF3C-D8E4-A20E-883F-F791C27B0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16" y="29975"/>
              <a:ext cx="86306" cy="59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(f ) </a:t>
              </a:r>
              <a:r>
                <a:rPr kumimoji="0" lang="zh-TW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棋盤格畫面</a:t>
              </a:r>
              <a:r>
                <a:rPr kumimoji="0" 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A</a:t>
              </a:r>
              <a:r>
                <a:rPr kumimoji="0" lang="en-US" sz="20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5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    (g) </a:t>
              </a:r>
              <a:r>
                <a:rPr kumimoji="0" lang="zh-TW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白畫面</a:t>
              </a:r>
              <a:r>
                <a:rPr kumimoji="0" 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A</a:t>
              </a:r>
              <a:r>
                <a:rPr kumimoji="0" lang="en-US" sz="20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6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        (h) </a:t>
              </a:r>
              <a:r>
                <a:rPr kumimoji="0" lang="zh-TW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紅畫面</a:t>
              </a:r>
              <a:r>
                <a:rPr kumimoji="0" 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A</a:t>
              </a:r>
              <a:r>
                <a:rPr kumimoji="0" lang="en-US" sz="20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7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          (</a:t>
              </a:r>
              <a:r>
                <a:rPr kumimoji="0" lang="en-US" sz="2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i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) </a:t>
              </a:r>
              <a:r>
                <a:rPr kumimoji="0" lang="zh-TW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綠畫面</a:t>
              </a:r>
              <a:r>
                <a:rPr kumimoji="0" 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A</a:t>
              </a:r>
              <a:r>
                <a:rPr kumimoji="0" lang="en-US" sz="20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8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        (j) </a:t>
              </a:r>
              <a:r>
                <a:rPr kumimoji="0" lang="zh-TW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藍畫面</a:t>
              </a:r>
              <a:r>
                <a:rPr kumimoji="0" 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A</a:t>
              </a:r>
              <a:r>
                <a:rPr kumimoji="0" lang="en-US" sz="20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9</a:t>
              </a:r>
              <a:endParaRPr kumimoji="0" lang="zh-TW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endParaRPr>
            </a:p>
          </p:txBody>
        </p:sp>
        <p:sp>
          <p:nvSpPr>
            <p:cNvPr id="16" name="文字方塊 26">
              <a:extLst>
                <a:ext uri="{FF2B5EF4-FFF2-40B4-BE49-F238E27FC236}">
                  <a16:creationId xmlns:a16="http://schemas.microsoft.com/office/drawing/2014/main" id="{17ADC5B8-59A4-2235-20A6-A1C98471D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24" y="12101"/>
              <a:ext cx="86592" cy="14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(a) </a:t>
              </a:r>
              <a:r>
                <a:rPr kumimoji="0" lang="zh-TW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除塵畫面</a:t>
              </a:r>
              <a:r>
                <a:rPr kumimoji="0" 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A</a:t>
              </a:r>
              <a:r>
                <a:rPr kumimoji="0" lang="en-US" sz="20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0         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(b) 128</a:t>
              </a:r>
              <a:r>
                <a:rPr kumimoji="0" lang="zh-TW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畫面</a:t>
              </a:r>
              <a:r>
                <a:rPr kumimoji="0" 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A</a:t>
              </a:r>
              <a:r>
                <a:rPr kumimoji="0" lang="en-US" sz="20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1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     (c) </a:t>
              </a:r>
              <a:r>
                <a:rPr kumimoji="0" lang="zh-TW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黑畫面</a:t>
              </a:r>
              <a:r>
                <a:rPr kumimoji="0" 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A</a:t>
              </a:r>
              <a:r>
                <a:rPr kumimoji="0" lang="en-US" sz="20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2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       (d) </a:t>
              </a:r>
              <a:r>
                <a:rPr kumimoji="0" lang="zh-TW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黑閃畫面</a:t>
              </a:r>
              <a:r>
                <a:rPr kumimoji="0" 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A</a:t>
              </a:r>
              <a:r>
                <a:rPr kumimoji="0" lang="en-US" sz="20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3  </a:t>
              </a:r>
              <a:r>
                <a:rPr kumimoji="0" lang="zh-TW" altLang="en-US" sz="20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 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(e) </a:t>
              </a:r>
              <a:r>
                <a:rPr kumimoji="0" lang="zh-TW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百葉窗畫面</a:t>
              </a:r>
              <a:r>
                <a:rPr kumimoji="0" 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A</a:t>
              </a:r>
              <a:r>
                <a:rPr kumimoji="0" lang="en-US" sz="20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4</a:t>
              </a:r>
              <a:endParaRPr kumimoji="0" lang="zh-TW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5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新細明體" panose="02020500000000000000" pitchFamily="18" charset="-120"/>
                </a:rPr>
                <a:t> </a:t>
              </a:r>
              <a:endParaRPr kumimoji="0" lang="zh-TW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endParaRPr>
            </a:p>
          </p:txBody>
        </p:sp>
      </p:grpSp>
      <p:sp>
        <p:nvSpPr>
          <p:cNvPr id="19" name="標題 1">
            <a:extLst>
              <a:ext uri="{FF2B5EF4-FFF2-40B4-BE49-F238E27FC236}">
                <a16:creationId xmlns:a16="http://schemas.microsoft.com/office/drawing/2014/main" id="{C42EFEFD-D164-D7CB-53B0-F700DE70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619388"/>
            <a:ext cx="10803373" cy="1092223"/>
          </a:xfrm>
        </p:spPr>
        <p:txBody>
          <a:bodyPr/>
          <a:lstStyle/>
          <a:p>
            <a:pPr algn="ctr"/>
            <a:r>
              <a:rPr lang="zh-TW" altLang="en-US" sz="4000" kern="150">
                <a:latin typeface="DFKai-SB"/>
                <a:ea typeface="微軟正黑體"/>
                <a:cs typeface="Times New Roman"/>
              </a:rPr>
              <a:t>影像預處理</a:t>
            </a:r>
            <a:r>
              <a:rPr lang="en-US" altLang="zh-TW" sz="4000" kern="150">
                <a:latin typeface="DFKai-SB"/>
                <a:ea typeface="微軟正黑體"/>
                <a:cs typeface="Times New Roman"/>
              </a:rPr>
              <a:t>(</a:t>
            </a:r>
            <a:r>
              <a:rPr lang="zh-TW" altLang="zh-TW" sz="4000" kern="150">
                <a:latin typeface="DFKai-SB"/>
                <a:ea typeface="微軟正黑體"/>
                <a:cs typeface="Times New Roman"/>
              </a:rPr>
              <a:t>影像分割結果</a:t>
            </a:r>
            <a:r>
              <a:rPr lang="en-US" altLang="zh-TW" sz="4000" kern="150">
                <a:latin typeface="DFKai-SB"/>
                <a:ea typeface="微軟正黑體"/>
                <a:cs typeface="Times New Roman"/>
              </a:rPr>
              <a:t>)</a:t>
            </a:r>
            <a:endParaRPr lang="zh-TW" altLang="en-US" sz="4000" kern="150">
              <a:latin typeface="DFKai-SB"/>
              <a:ea typeface="微軟正黑體" panose="020B0604030504040204" pitchFamily="34" charset="-12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03497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4EE865D-5A59-4DD1-A94D-A8DBE4A9E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23EFB5-5855-497F-AC57-6C194148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8455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5861A3-A669-6C95-7BB9-11343DBBB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583162"/>
              </p:ext>
            </p:extLst>
          </p:nvPr>
        </p:nvGraphicFramePr>
        <p:xfrm>
          <a:off x="2776537" y="2421793"/>
          <a:ext cx="6943725" cy="3328864"/>
        </p:xfrm>
        <a:graphic>
          <a:graphicData uri="http://schemas.openxmlformats.org/drawingml/2006/table">
            <a:tbl>
              <a:tblPr bandRow="1">
                <a:tableStyleId>{8A107856-5554-42FB-B03E-39F5DBC370BA}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00313826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3729308428"/>
                    </a:ext>
                  </a:extLst>
                </a:gridCol>
                <a:gridCol w="3305175">
                  <a:extLst>
                    <a:ext uri="{9D8B030D-6E8A-4147-A177-3AD203B41FA5}">
                      <a16:colId xmlns:a16="http://schemas.microsoft.com/office/drawing/2014/main" val="322544288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zh-TW" alt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編號</a:t>
                      </a:r>
                      <a:endParaRPr lang="zh-TW" alt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6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zh-TW" alt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類別</a:t>
                      </a:r>
                      <a:endParaRPr lang="zh-TW" alt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6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zh-TW" alt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瑕疵類型</a:t>
                      </a:r>
                      <a:endParaRPr lang="zh-TW" alt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84943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微軟正黑體"/>
                        </a:rPr>
                        <a:t>0</a:t>
                      </a:r>
                      <a:endParaRPr lang="en-US" altLang="zh-TW" b="0" i="0" dirty="0">
                        <a:solidFill>
                          <a:srgbClr val="000000"/>
                        </a:solidFill>
                        <a:effectLst/>
                        <a:latin typeface="Segoe UI"/>
                        <a:ea typeface="微軟正黑體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zh-TW" alt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線</a:t>
                      </a:r>
                      <a:endParaRPr lang="zh-TW" alt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zh-TW" alt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無瑕疵</a:t>
                      </a:r>
                      <a:endParaRPr lang="zh-TW" alt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5381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微軟正黑體"/>
                        </a:rPr>
                        <a:t>1</a:t>
                      </a:r>
                      <a:endParaRPr lang="en-US" altLang="zh-TW" b="0" i="0" dirty="0">
                        <a:solidFill>
                          <a:srgbClr val="000000"/>
                        </a:solidFill>
                        <a:effectLst/>
                        <a:latin typeface="Segoe UI"/>
                        <a:ea typeface="微軟正黑體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zh-TW" alt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線</a:t>
                      </a:r>
                      <a:endParaRPr lang="zh-TW" alt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zh-TW" alt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亮線瑕疵</a:t>
                      </a:r>
                      <a:endParaRPr lang="zh-TW" alt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5013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微軟正黑體"/>
                        </a:rPr>
                        <a:t>2</a:t>
                      </a:r>
                      <a:endParaRPr lang="en-US" altLang="zh-TW" b="0" i="0" dirty="0">
                        <a:solidFill>
                          <a:srgbClr val="000000"/>
                        </a:solidFill>
                        <a:effectLst/>
                        <a:latin typeface="Segoe UI"/>
                        <a:ea typeface="微軟正黑體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zh-TW" alt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區域</a:t>
                      </a:r>
                      <a:endParaRPr lang="zh-TW" alt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zh-TW" alt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暗線瑕疵</a:t>
                      </a:r>
                      <a:endParaRPr lang="zh-TW" alt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63125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微軟正黑體"/>
                        </a:rPr>
                        <a:t>3</a:t>
                      </a:r>
                      <a:endParaRPr lang="en-US" altLang="zh-TW" b="0" i="0" dirty="0">
                        <a:solidFill>
                          <a:srgbClr val="000000"/>
                        </a:solidFill>
                        <a:effectLst/>
                        <a:latin typeface="Segoe UI"/>
                        <a:ea typeface="微軟正黑體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zh-TW" alt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區域</a:t>
                      </a:r>
                      <a:endParaRPr lang="zh-TW" alt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zh-TW" alt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黑漏光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Mura</a:t>
                      </a:r>
                      <a:endParaRPr lang="en-US" altLang="zh-TW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38599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微軟正黑體"/>
                        </a:rPr>
                        <a:t>4</a:t>
                      </a:r>
                      <a:endParaRPr lang="en-US" altLang="zh-TW" b="0" i="0" dirty="0">
                        <a:solidFill>
                          <a:srgbClr val="000000"/>
                        </a:solidFill>
                        <a:effectLst/>
                        <a:latin typeface="Segoe UI"/>
                        <a:ea typeface="微軟正黑體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zh-TW" alt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區域</a:t>
                      </a:r>
                      <a:endParaRPr lang="zh-TW" alt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zh-TW" alt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亮度色彩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Mura</a:t>
                      </a:r>
                      <a:endParaRPr lang="en-US" altLang="zh-TW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20038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微軟正黑體"/>
                        </a:rPr>
                        <a:t>5</a:t>
                      </a:r>
                      <a:endParaRPr lang="en-US" altLang="zh-TW" b="0" i="0" dirty="0">
                        <a:solidFill>
                          <a:srgbClr val="000000"/>
                        </a:solidFill>
                        <a:effectLst/>
                        <a:latin typeface="Segoe UI"/>
                        <a:ea typeface="微軟正黑體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zh-TW" alt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區域</a:t>
                      </a:r>
                      <a:endParaRPr lang="zh-TW" alt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3300"/>
                        </a:lnSpc>
                      </a:pPr>
                      <a:r>
                        <a:rPr lang="zh-TW" alt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線性</a:t>
                      </a: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微軟正黑體" panose="020B0604030504040204" pitchFamily="34" charset="-120"/>
                        </a:rPr>
                        <a:t>Mura</a:t>
                      </a:r>
                      <a:endParaRPr lang="en-US" altLang="zh-TW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2636" marR="132636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017112"/>
                  </a:ext>
                </a:extLst>
              </a:tr>
            </a:tbl>
          </a:graphicData>
        </a:graphic>
      </p:graphicFrame>
      <p:pic>
        <p:nvPicPr>
          <p:cNvPr id="4" name="Picture 3" descr="A close-up of a number&#10;&#10;Description automatically generated">
            <a:extLst>
              <a:ext uri="{FF2B5EF4-FFF2-40B4-BE49-F238E27FC236}">
                <a16:creationId xmlns:a16="http://schemas.microsoft.com/office/drawing/2014/main" id="{60D4AA8A-061A-A01D-8E3D-D6113CA20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1281112"/>
            <a:ext cx="10515600" cy="1057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8469E7-F888-5A2E-1B47-91953AB67E91}"/>
              </a:ext>
            </a:extLst>
          </p:cNvPr>
          <p:cNvSpPr txBox="1"/>
          <p:nvPr/>
        </p:nvSpPr>
        <p:spPr>
          <a:xfrm>
            <a:off x="1557337" y="345460"/>
            <a:ext cx="888206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4400" b="1" kern="150" spc="150" dirty="0">
                <a:solidFill>
                  <a:srgbClr val="0815B8"/>
                </a:solidFill>
                <a:latin typeface="DFKai-SB"/>
                <a:ea typeface="微軟正黑體"/>
                <a:cs typeface="Times New Roman"/>
              </a:rPr>
              <a:t>宏觀瑕疵辨識</a:t>
            </a:r>
            <a:endParaRPr lang="en-US" sz="4400" b="1" kern="150" spc="150" dirty="0">
              <a:solidFill>
                <a:srgbClr val="0815B8"/>
              </a:solidFill>
              <a:latin typeface="DFKai-SB"/>
              <a:ea typeface="微軟正黑體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5903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kern="150">
                <a:latin typeface="DFKai-SB"/>
                <a:ea typeface="微軟正黑體"/>
                <a:cs typeface="Times New Roman"/>
              </a:rPr>
              <a:t>宏觀瑕疵</a:t>
            </a:r>
          </a:p>
        </p:txBody>
      </p:sp>
      <p:pic>
        <p:nvPicPr>
          <p:cNvPr id="13" name="Content Placeholder 2" descr="A black rectangle with red line&#10;&#10;Description automatically generated">
            <a:extLst>
              <a:ext uri="{FF2B5EF4-FFF2-40B4-BE49-F238E27FC236}">
                <a16:creationId xmlns:a16="http://schemas.microsoft.com/office/drawing/2014/main" id="{2C990AA5-B06A-288B-9418-0A80ADFF2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791" y="1705666"/>
            <a:ext cx="8538870" cy="235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74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kern="150" dirty="0" err="1">
                <a:latin typeface="DFKai-SB"/>
                <a:ea typeface="微軟正黑體"/>
                <a:cs typeface="Times New Roman"/>
              </a:rPr>
              <a:t>宏觀瑕疵</a:t>
            </a:r>
            <a:endParaRPr lang="en-US" sz="4400" kern="150" dirty="0">
              <a:latin typeface="DFKai-SB"/>
              <a:ea typeface="微軟正黑體"/>
              <a:cs typeface="Times New Roman"/>
            </a:endParaRPr>
          </a:p>
        </p:txBody>
      </p:sp>
      <p:pic>
        <p:nvPicPr>
          <p:cNvPr id="11" name="Picture 10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9C0A12EC-128D-AF2E-8D99-EEBEF603D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672" y="758904"/>
            <a:ext cx="7495108" cy="384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20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BC06BCF-7320-499B-88F4-B5CA302B7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6391D0-667E-4896-B135-3EACC242E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4253" y="-2"/>
            <a:ext cx="1934696" cy="61676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960E78-2AB2-44CD-9D6D-3A87531D7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0245" y="6167615"/>
            <a:ext cx="1998704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09C433-6200-400E-ACC5-60A500486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328808-6121-4268-B0D0-AB78E2170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793248" y="3396996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9559ABE-B4B6-53AF-C4B4-D4945E715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960760"/>
              </p:ext>
            </p:extLst>
          </p:nvPr>
        </p:nvGraphicFramePr>
        <p:xfrm>
          <a:off x="1445237" y="513115"/>
          <a:ext cx="7425350" cy="3405408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1659238">
                  <a:extLst>
                    <a:ext uri="{9D8B030D-6E8A-4147-A177-3AD203B41FA5}">
                      <a16:colId xmlns:a16="http://schemas.microsoft.com/office/drawing/2014/main" val="3870666638"/>
                    </a:ext>
                  </a:extLst>
                </a:gridCol>
                <a:gridCol w="2883056">
                  <a:extLst>
                    <a:ext uri="{9D8B030D-6E8A-4147-A177-3AD203B41FA5}">
                      <a16:colId xmlns:a16="http://schemas.microsoft.com/office/drawing/2014/main" val="1498171306"/>
                    </a:ext>
                  </a:extLst>
                </a:gridCol>
                <a:gridCol w="2883056">
                  <a:extLst>
                    <a:ext uri="{9D8B030D-6E8A-4147-A177-3AD203B41FA5}">
                      <a16:colId xmlns:a16="http://schemas.microsoft.com/office/drawing/2014/main" val="614942503"/>
                    </a:ext>
                  </a:extLst>
                </a:gridCol>
              </a:tblGrid>
              <a:tr h="483792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TW" sz="2200" b="1" kern="100">
                          <a:solidFill>
                            <a:schemeClr val="tx1"/>
                          </a:solidFill>
                          <a:effectLst/>
                        </a:rPr>
                        <a:t>編號</a:t>
                      </a:r>
                      <a:endParaRPr lang="zh-TW" sz="22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TW" sz="2200" b="1" kern="100" dirty="0">
                          <a:solidFill>
                            <a:schemeClr val="tx1"/>
                          </a:solidFill>
                          <a:effectLst/>
                        </a:rPr>
                        <a:t>平衡處理前數量</a:t>
                      </a:r>
                      <a:endParaRPr lang="zh-TW" sz="22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TW" sz="2200" b="1" kern="100" dirty="0">
                          <a:solidFill>
                            <a:schemeClr val="tx1"/>
                          </a:solidFill>
                          <a:effectLst/>
                        </a:rPr>
                        <a:t>平衡處理後數量</a:t>
                      </a:r>
                      <a:endParaRPr lang="zh-TW" sz="22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900562"/>
                  </a:ext>
                </a:extLst>
              </a:tr>
              <a:tr h="486936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TW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 dirty="0">
                          <a:solidFill>
                            <a:schemeClr val="tx1"/>
                          </a:solidFill>
                          <a:effectLst/>
                        </a:rPr>
                        <a:t>5,108</a:t>
                      </a:r>
                      <a:endParaRPr lang="zh-TW" sz="2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>
                          <a:solidFill>
                            <a:schemeClr val="tx1"/>
                          </a:solidFill>
                          <a:effectLst/>
                        </a:rPr>
                        <a:t>5,108</a:t>
                      </a:r>
                      <a:endParaRPr lang="zh-TW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467138"/>
                  </a:ext>
                </a:extLst>
              </a:tr>
              <a:tr h="486936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TW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>
                          <a:solidFill>
                            <a:schemeClr val="tx1"/>
                          </a:solidFill>
                          <a:effectLst/>
                        </a:rPr>
                        <a:t>168</a:t>
                      </a:r>
                      <a:endParaRPr lang="zh-TW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>
                          <a:solidFill>
                            <a:schemeClr val="tx1"/>
                          </a:solidFill>
                          <a:effectLst/>
                        </a:rPr>
                        <a:t>5,108</a:t>
                      </a:r>
                      <a:endParaRPr lang="zh-TW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627379"/>
                  </a:ext>
                </a:extLst>
              </a:tr>
              <a:tr h="486936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zh-TW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 dirty="0">
                          <a:solidFill>
                            <a:schemeClr val="tx1"/>
                          </a:solidFill>
                          <a:effectLst/>
                        </a:rPr>
                        <a:t>101</a:t>
                      </a:r>
                      <a:endParaRPr lang="zh-TW" sz="2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>
                          <a:solidFill>
                            <a:schemeClr val="tx1"/>
                          </a:solidFill>
                          <a:effectLst/>
                        </a:rPr>
                        <a:t>5,108</a:t>
                      </a:r>
                      <a:endParaRPr lang="zh-TW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663119"/>
                  </a:ext>
                </a:extLst>
              </a:tr>
              <a:tr h="486936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zh-TW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zh-TW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>
                          <a:solidFill>
                            <a:schemeClr val="tx1"/>
                          </a:solidFill>
                          <a:effectLst/>
                        </a:rPr>
                        <a:t>5,108</a:t>
                      </a:r>
                      <a:endParaRPr lang="zh-TW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239347"/>
                  </a:ext>
                </a:extLst>
              </a:tr>
              <a:tr h="486936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TW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zh-TW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>
                          <a:solidFill>
                            <a:schemeClr val="tx1"/>
                          </a:solidFill>
                          <a:effectLst/>
                        </a:rPr>
                        <a:t>5,108</a:t>
                      </a:r>
                      <a:endParaRPr lang="zh-TW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286276"/>
                  </a:ext>
                </a:extLst>
              </a:tr>
              <a:tr h="486936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zh-TW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zh-TW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2200" kern="100" dirty="0">
                          <a:solidFill>
                            <a:schemeClr val="tx1"/>
                          </a:solidFill>
                          <a:effectLst/>
                        </a:rPr>
                        <a:t>5,108</a:t>
                      </a:r>
                      <a:endParaRPr lang="zh-TW" sz="2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0290" marR="110290" marT="0" marB="0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13018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827234ED-7848-5C50-32F2-7FC1D98B189C}"/>
              </a:ext>
            </a:extLst>
          </p:cNvPr>
          <p:cNvSpPr txBox="1"/>
          <p:nvPr/>
        </p:nvSpPr>
        <p:spPr>
          <a:xfrm>
            <a:off x="928360" y="4607280"/>
            <a:ext cx="8941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400" dirty="0">
                <a:effectLst/>
                <a:latin typeface="Palatino Linotype" panose="0204050205050503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避免類別不平衡對模型訓練的影響，本研究針對宏觀瑕疵和微觀瑕疵都採用了虛擬少數類別過抽樣技術</a:t>
            </a:r>
            <a:r>
              <a:rPr lang="zh-TW" altLang="zh-TW" sz="24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24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Synthetic Minority Oversampling Technique, SMOTE</a:t>
            </a:r>
            <a:r>
              <a:rPr lang="zh-TW" altLang="zh-TW" sz="24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zh-TW" altLang="zh-TW" sz="2400" dirty="0">
                <a:effectLst/>
                <a:latin typeface="Palatino Linotype" panose="0204050205050503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來進行數據平衡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92758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34EE865D-5A59-4DD1-A94D-A8DBE4A9E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F465BEC9-9A64-4330-A094-2323D0EE1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7891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4B1DA58A-A755-4FCE-9BED-1E4AD6C9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61146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2E23EFB5-5855-497F-AC57-6C194148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618455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9414EFBA-DEC5-4782-9B45-CEF1661DB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21586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表格版面配置區 3">
            <a:extLst>
              <a:ext uri="{FF2B5EF4-FFF2-40B4-BE49-F238E27FC236}">
                <a16:creationId xmlns:a16="http://schemas.microsoft.com/office/drawing/2014/main" id="{DF645BD0-DCAD-83A2-F2B5-21CD20CA5C41}"/>
              </a:ext>
            </a:extLst>
          </p:cNvPr>
          <p:cNvGraphicFramePr>
            <a:graphicFrameLocks noGrp="1"/>
          </p:cNvGraphicFramePr>
          <p:nvPr>
            <p:ph type="tbl" sz="quarter" idx="4294967295"/>
            <p:extLst>
              <p:ext uri="{D42A27DB-BD31-4B8C-83A1-F6EECF244321}">
                <p14:modId xmlns:p14="http://schemas.microsoft.com/office/powerpoint/2010/main" val="882760096"/>
              </p:ext>
            </p:extLst>
          </p:nvPr>
        </p:nvGraphicFramePr>
        <p:xfrm>
          <a:off x="2452425" y="1769264"/>
          <a:ext cx="7287150" cy="4256185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4104114">
                  <a:extLst>
                    <a:ext uri="{9D8B030D-6E8A-4147-A177-3AD203B41FA5}">
                      <a16:colId xmlns:a16="http://schemas.microsoft.com/office/drawing/2014/main" val="3563105693"/>
                    </a:ext>
                  </a:extLst>
                </a:gridCol>
                <a:gridCol w="3183036">
                  <a:extLst>
                    <a:ext uri="{9D8B030D-6E8A-4147-A177-3AD203B41FA5}">
                      <a16:colId xmlns:a16="http://schemas.microsoft.com/office/drawing/2014/main" val="2786458341"/>
                    </a:ext>
                  </a:extLst>
                </a:gridCol>
              </a:tblGrid>
              <a:tr h="285210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zh-TW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超參數</a:t>
                      </a:r>
                      <a:endParaRPr lang="zh-TW" sz="13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zh-TW" sz="1300" kern="100">
                          <a:effectLst/>
                        </a:rPr>
                        <a:t>設定值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extLst>
                  <a:ext uri="{0D108BD9-81ED-4DB2-BD59-A6C34878D82A}">
                    <a16:rowId xmlns:a16="http://schemas.microsoft.com/office/drawing/2014/main" val="1774989680"/>
                  </a:ext>
                </a:extLst>
              </a:tr>
              <a:tr h="286994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zh-TW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學習率</a:t>
                      </a:r>
                      <a:r>
                        <a:rPr lang="en-US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(Learning Rate)</a:t>
                      </a:r>
                      <a:endParaRPr lang="zh-TW" sz="13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en-US" sz="1300" kern="100">
                          <a:effectLst/>
                        </a:rPr>
                        <a:t>0.01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extLst>
                  <a:ext uri="{0D108BD9-81ED-4DB2-BD59-A6C34878D82A}">
                    <a16:rowId xmlns:a16="http://schemas.microsoft.com/office/drawing/2014/main" val="3788831199"/>
                  </a:ext>
                </a:extLst>
              </a:tr>
              <a:tr h="286994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zh-TW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動量</a:t>
                      </a:r>
                      <a:r>
                        <a:rPr lang="en-US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(Momentum)</a:t>
                      </a:r>
                      <a:endParaRPr lang="zh-TW" sz="13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en-US" sz="1300" kern="100">
                          <a:effectLst/>
                        </a:rPr>
                        <a:t>0.9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extLst>
                  <a:ext uri="{0D108BD9-81ED-4DB2-BD59-A6C34878D82A}">
                    <a16:rowId xmlns:a16="http://schemas.microsoft.com/office/drawing/2014/main" val="2518808044"/>
                  </a:ext>
                </a:extLst>
              </a:tr>
              <a:tr h="286994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zh-TW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批次大小</a:t>
                      </a:r>
                      <a:r>
                        <a:rPr lang="en-US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(Batch Size)</a:t>
                      </a:r>
                      <a:endParaRPr lang="zh-TW" sz="13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en-US" sz="1300" kern="100">
                          <a:effectLst/>
                        </a:rPr>
                        <a:t>32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extLst>
                  <a:ext uri="{0D108BD9-81ED-4DB2-BD59-A6C34878D82A}">
                    <a16:rowId xmlns:a16="http://schemas.microsoft.com/office/drawing/2014/main" val="65689417"/>
                  </a:ext>
                </a:extLst>
              </a:tr>
              <a:tr h="286994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zh-TW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訓練周期</a:t>
                      </a:r>
                      <a:r>
                        <a:rPr lang="en-US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(Epochs)</a:t>
                      </a:r>
                      <a:endParaRPr lang="zh-TW" sz="13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en-US" sz="1300" kern="100">
                          <a:effectLst/>
                        </a:rPr>
                        <a:t>100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extLst>
                  <a:ext uri="{0D108BD9-81ED-4DB2-BD59-A6C34878D82A}">
                    <a16:rowId xmlns:a16="http://schemas.microsoft.com/office/drawing/2014/main" val="971597706"/>
                  </a:ext>
                </a:extLst>
              </a:tr>
              <a:tr h="286994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zh-TW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損失函數</a:t>
                      </a:r>
                      <a:r>
                        <a:rPr lang="en-US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(Loss Function)</a:t>
                      </a:r>
                      <a:endParaRPr lang="zh-TW" sz="13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en-US" sz="1300" kern="100">
                          <a:effectLst/>
                        </a:rPr>
                        <a:t>categorical_crossentropy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extLst>
                  <a:ext uri="{0D108BD9-81ED-4DB2-BD59-A6C34878D82A}">
                    <a16:rowId xmlns:a16="http://schemas.microsoft.com/office/drawing/2014/main" val="2227713184"/>
                  </a:ext>
                </a:extLst>
              </a:tr>
              <a:tr h="286994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zh-TW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激活函數</a:t>
                      </a:r>
                      <a:r>
                        <a:rPr lang="en-US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(Activation Function)</a:t>
                      </a:r>
                      <a:endParaRPr lang="zh-TW" sz="13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en-US" sz="1300" kern="100">
                          <a:effectLst/>
                        </a:rPr>
                        <a:t>Softmax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extLst>
                  <a:ext uri="{0D108BD9-81ED-4DB2-BD59-A6C34878D82A}">
                    <a16:rowId xmlns:a16="http://schemas.microsoft.com/office/drawing/2014/main" val="130405839"/>
                  </a:ext>
                </a:extLst>
              </a:tr>
              <a:tr h="286994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zh-TW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輸入形狀</a:t>
                      </a:r>
                      <a:r>
                        <a:rPr lang="en-US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(Input Shape)</a:t>
                      </a:r>
                      <a:endParaRPr lang="zh-TW" sz="13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en-US" sz="1300" kern="100">
                          <a:effectLst/>
                        </a:rPr>
                        <a:t>(60, 40, 7)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extLst>
                  <a:ext uri="{0D108BD9-81ED-4DB2-BD59-A6C34878D82A}">
                    <a16:rowId xmlns:a16="http://schemas.microsoft.com/office/drawing/2014/main" val="2793242291"/>
                  </a:ext>
                </a:extLst>
              </a:tr>
              <a:tr h="286994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zh-TW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類別數量</a:t>
                      </a:r>
                      <a:r>
                        <a:rPr lang="en-US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(Number of Classes)</a:t>
                      </a:r>
                      <a:endParaRPr lang="zh-TW" sz="13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en-US" sz="1300" kern="100">
                          <a:effectLst/>
                        </a:rPr>
                        <a:t>6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extLst>
                  <a:ext uri="{0D108BD9-81ED-4DB2-BD59-A6C34878D82A}">
                    <a16:rowId xmlns:a16="http://schemas.microsoft.com/office/drawing/2014/main" val="2625662200"/>
                  </a:ext>
                </a:extLst>
              </a:tr>
              <a:tr h="286994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zh-TW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優化器</a:t>
                      </a:r>
                      <a:r>
                        <a:rPr lang="en-US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(Optimizer)</a:t>
                      </a:r>
                      <a:endParaRPr lang="zh-TW" sz="13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en-US" sz="1300" kern="100">
                          <a:effectLst/>
                        </a:rPr>
                        <a:t>SGD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extLst>
                  <a:ext uri="{0D108BD9-81ED-4DB2-BD59-A6C34878D82A}">
                    <a16:rowId xmlns:a16="http://schemas.microsoft.com/office/drawing/2014/main" val="3509776718"/>
                  </a:ext>
                </a:extLst>
              </a:tr>
              <a:tr h="286994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zh-TW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訓練準確率</a:t>
                      </a:r>
                      <a:r>
                        <a:rPr lang="en-US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en-US" sz="13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TrainingAccuracy</a:t>
                      </a:r>
                      <a:r>
                        <a:rPr lang="en-US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sz="13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en-US" sz="1300" kern="100">
                          <a:effectLst/>
                        </a:rPr>
                        <a:t>0.99790172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extLst>
                  <a:ext uri="{0D108BD9-81ED-4DB2-BD59-A6C34878D82A}">
                    <a16:rowId xmlns:a16="http://schemas.microsoft.com/office/drawing/2014/main" val="1800483441"/>
                  </a:ext>
                </a:extLst>
              </a:tr>
              <a:tr h="286994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zh-TW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驗證準確率</a:t>
                      </a:r>
                      <a:r>
                        <a:rPr lang="en-US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en-US" sz="13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ValidatioAccuracy</a:t>
                      </a:r>
                      <a:r>
                        <a:rPr lang="en-US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sz="13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en-US" sz="1300" kern="100">
                          <a:effectLst/>
                        </a:rPr>
                        <a:t>0.994032901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extLst>
                  <a:ext uri="{0D108BD9-81ED-4DB2-BD59-A6C34878D82A}">
                    <a16:rowId xmlns:a16="http://schemas.microsoft.com/office/drawing/2014/main" val="35880364"/>
                  </a:ext>
                </a:extLst>
              </a:tr>
              <a:tr h="286994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zh-TW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訓練損失</a:t>
                      </a:r>
                      <a:r>
                        <a:rPr lang="en-US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(Training Loss)</a:t>
                      </a:r>
                      <a:endParaRPr lang="zh-TW" sz="13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en-US" sz="1300" kern="100">
                          <a:effectLst/>
                        </a:rPr>
                        <a:t>0.005635022</a:t>
                      </a:r>
                      <a:endParaRPr lang="zh-TW" sz="13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24314" marR="24314" marT="0" marB="0"/>
                </a:tc>
                <a:extLst>
                  <a:ext uri="{0D108BD9-81ED-4DB2-BD59-A6C34878D82A}">
                    <a16:rowId xmlns:a16="http://schemas.microsoft.com/office/drawing/2014/main" val="704659445"/>
                  </a:ext>
                </a:extLst>
              </a:tr>
              <a:tr h="527047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</a:pPr>
                      <a:r>
                        <a:rPr lang="zh-TW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驗證損失</a:t>
                      </a:r>
                      <a:r>
                        <a:rPr lang="en-US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</a:t>
                      </a:r>
                      <a:r>
                        <a:rPr lang="en-US" sz="13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ValidationLoss</a:t>
                      </a:r>
                      <a:r>
                        <a:rPr lang="en-US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sz="13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r>
                        <a:rPr lang="zh-TW" sz="13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 </a:t>
                      </a:r>
                      <a:endParaRPr lang="zh-TW" sz="13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3377" marR="3377" marT="3377" marB="337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300" kern="100" dirty="0">
                          <a:effectLst/>
                        </a:rPr>
                        <a:t>  0.02402557</a:t>
                      </a:r>
                      <a:endParaRPr lang="zh-TW" altLang="zh-TW" sz="13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endParaRPr lang="zh-TW" altLang="en-US" sz="1300" dirty="0"/>
                    </a:p>
                  </a:txBody>
                  <a:tcPr marL="32419" marR="32419" marT="16209" marB="16209"/>
                </a:tc>
                <a:extLst>
                  <a:ext uri="{0D108BD9-81ED-4DB2-BD59-A6C34878D82A}">
                    <a16:rowId xmlns:a16="http://schemas.microsoft.com/office/drawing/2014/main" val="3740156108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BC62791D-DBE2-7682-E57C-5509419D4B0B}"/>
              </a:ext>
            </a:extLst>
          </p:cNvPr>
          <p:cNvSpPr txBox="1"/>
          <p:nvPr/>
        </p:nvSpPr>
        <p:spPr>
          <a:xfrm>
            <a:off x="2247609" y="984202"/>
            <a:ext cx="783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本研究選用</a:t>
            </a:r>
            <a:r>
              <a:rPr lang="en-US" altLang="zh-TW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ResNet50V2 </a:t>
            </a:r>
            <a:r>
              <a:rPr lang="zh-TW" altLang="en-US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模型進行訓練</a:t>
            </a:r>
          </a:p>
        </p:txBody>
      </p:sp>
    </p:spTree>
    <p:extLst>
      <p:ext uri="{BB962C8B-B14F-4D97-AF65-F5344CB8AC3E}">
        <p14:creationId xmlns:p14="http://schemas.microsoft.com/office/powerpoint/2010/main" val="427965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4EE865D-5A59-4DD1-A94D-A8DBE4A9E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23EFB5-5855-497F-AC57-6C194148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8455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8469E7-F888-5A2E-1B47-91953AB67E91}"/>
              </a:ext>
            </a:extLst>
          </p:cNvPr>
          <p:cNvSpPr txBox="1"/>
          <p:nvPr/>
        </p:nvSpPr>
        <p:spPr>
          <a:xfrm>
            <a:off x="1557337" y="345460"/>
            <a:ext cx="888206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4400" b="1" kern="150" spc="150" dirty="0">
                <a:solidFill>
                  <a:srgbClr val="0815B8"/>
                </a:solidFill>
                <a:latin typeface="DFKai-SB"/>
                <a:ea typeface="微軟正黑體"/>
                <a:cs typeface="Times New Roman"/>
              </a:rPr>
              <a:t>微觀瑕疵辨識</a:t>
            </a:r>
            <a:endParaRPr lang="en-US" sz="4400" b="1" kern="150" spc="150" dirty="0">
              <a:solidFill>
                <a:srgbClr val="0815B8"/>
              </a:solidFill>
              <a:latin typeface="DFKai-SB"/>
              <a:ea typeface="微軟正黑體"/>
              <a:cs typeface="Times New Roman"/>
            </a:endParaRPr>
          </a:p>
        </p:txBody>
      </p:sp>
      <p:pic>
        <p:nvPicPr>
          <p:cNvPr id="162" name="圖片 161" descr="一張含有 文字, 螢幕擷取畫面, 數字 的圖片&#10;&#10;自動產生的描述">
            <a:extLst>
              <a:ext uri="{FF2B5EF4-FFF2-40B4-BE49-F238E27FC236}">
                <a16:creationId xmlns:a16="http://schemas.microsoft.com/office/drawing/2014/main" id="{953C11CC-81D3-ED13-3C08-81FA1314D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078" y="2181716"/>
            <a:ext cx="8189410" cy="3827659"/>
          </a:xfrm>
          <a:prstGeom prst="rect">
            <a:avLst/>
          </a:prstGeom>
        </p:spPr>
      </p:pic>
      <p:pic>
        <p:nvPicPr>
          <p:cNvPr id="166" name="圖片 165">
            <a:extLst>
              <a:ext uri="{FF2B5EF4-FFF2-40B4-BE49-F238E27FC236}">
                <a16:creationId xmlns:a16="http://schemas.microsoft.com/office/drawing/2014/main" id="{35CD2CA3-8D83-2B91-8CB8-4B0D35611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0" y="1034737"/>
            <a:ext cx="10289847" cy="114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620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4738AB-B6BE-4867-889A-52CE4AC8D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095508"/>
            <a:ext cx="4668819" cy="50168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578" y="2893612"/>
            <a:ext cx="3754671" cy="1070776"/>
          </a:xfrm>
        </p:spPr>
        <p:txBody>
          <a:bodyPr vert="horz" lIns="109728" tIns="109728" rIns="109728" bIns="91440" rtlCol="0" anchor="ctr" anchorCtr="0">
            <a:normAutofit/>
          </a:bodyPr>
          <a:lstStyle/>
          <a:p>
            <a:pPr algn="ctr">
              <a:lnSpc>
                <a:spcPct val="125000"/>
              </a:lnSpc>
            </a:pPr>
            <a:r>
              <a:rPr lang="ja-JP" altLang="en-US" sz="4400" kern="150" dirty="0">
                <a:latin typeface="DFKai-SB"/>
                <a:ea typeface="微軟正黑體"/>
                <a:cs typeface="Times New Roman"/>
              </a:rPr>
              <a:t>微觀瑕疵</a:t>
            </a:r>
            <a:r>
              <a:rPr lang="zh-TW" altLang="en-US" sz="4400" kern="150" dirty="0">
                <a:latin typeface="DFKai-SB"/>
                <a:ea typeface="微軟正黑體"/>
                <a:cs typeface="Times New Roman"/>
              </a:rPr>
              <a:t>範例</a:t>
            </a:r>
            <a:endParaRPr lang="en-US" sz="4400" kern="150" dirty="0">
              <a:latin typeface="DFKai-SB"/>
              <a:ea typeface="微軟正黑體"/>
              <a:cs typeface="Times New Roman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D49B71-B686-4DFD-93AD-40CB19B62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2066" y="0"/>
            <a:ext cx="7519934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black and white photo&#10;&#10;Description automatically generated">
            <a:extLst>
              <a:ext uri="{FF2B5EF4-FFF2-40B4-BE49-F238E27FC236}">
                <a16:creationId xmlns:a16="http://schemas.microsoft.com/office/drawing/2014/main" id="{99A404BC-2909-AE80-63CE-ED9D2972A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285" y="2107255"/>
            <a:ext cx="6236248" cy="29933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C60369F-A41B-4D6E-8990-30E2715C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653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63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444B6B0-1F2B-E94B-2B2C-02F30B353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671269"/>
              </p:ext>
            </p:extLst>
          </p:nvPr>
        </p:nvGraphicFramePr>
        <p:xfrm>
          <a:off x="6941252" y="966059"/>
          <a:ext cx="4579621" cy="4675053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1431890">
                  <a:extLst>
                    <a:ext uri="{9D8B030D-6E8A-4147-A177-3AD203B41FA5}">
                      <a16:colId xmlns:a16="http://schemas.microsoft.com/office/drawing/2014/main" val="810728898"/>
                    </a:ext>
                  </a:extLst>
                </a:gridCol>
                <a:gridCol w="1141873">
                  <a:extLst>
                    <a:ext uri="{9D8B030D-6E8A-4147-A177-3AD203B41FA5}">
                      <a16:colId xmlns:a16="http://schemas.microsoft.com/office/drawing/2014/main" val="1197241999"/>
                    </a:ext>
                  </a:extLst>
                </a:gridCol>
                <a:gridCol w="2005858">
                  <a:extLst>
                    <a:ext uri="{9D8B030D-6E8A-4147-A177-3AD203B41FA5}">
                      <a16:colId xmlns:a16="http://schemas.microsoft.com/office/drawing/2014/main" val="215309832"/>
                    </a:ext>
                  </a:extLst>
                </a:gridCol>
              </a:tblGrid>
              <a:tr h="693603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TW" sz="1900" kern="100">
                          <a:effectLst/>
                        </a:rPr>
                        <a:t>編號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TW" sz="1900" kern="100" dirty="0">
                          <a:effectLst/>
                        </a:rPr>
                        <a:t>擴增前</a:t>
                      </a:r>
                      <a:endParaRPr lang="zh-TW" sz="22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zh-TW" sz="1900" kern="100">
                          <a:effectLst/>
                        </a:rPr>
                        <a:t>擴增後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extLst>
                  <a:ext uri="{0D108BD9-81ED-4DB2-BD59-A6C34878D82A}">
                    <a16:rowId xmlns:a16="http://schemas.microsoft.com/office/drawing/2014/main" val="3701451502"/>
                  </a:ext>
                </a:extLst>
              </a:tr>
              <a:tr h="367331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0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 dirty="0">
                          <a:effectLst/>
                        </a:rPr>
                        <a:t>3,012</a:t>
                      </a:r>
                      <a:endParaRPr lang="zh-TW" sz="22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 dirty="0">
                          <a:effectLst/>
                        </a:rPr>
                        <a:t>3,012</a:t>
                      </a:r>
                      <a:endParaRPr lang="zh-TW" sz="22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extLst>
                  <a:ext uri="{0D108BD9-81ED-4DB2-BD59-A6C34878D82A}">
                    <a16:rowId xmlns:a16="http://schemas.microsoft.com/office/drawing/2014/main" val="1860038741"/>
                  </a:ext>
                </a:extLst>
              </a:tr>
              <a:tr h="367331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1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6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26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extLst>
                  <a:ext uri="{0D108BD9-81ED-4DB2-BD59-A6C34878D82A}">
                    <a16:rowId xmlns:a16="http://schemas.microsoft.com/office/drawing/2014/main" val="1981048989"/>
                  </a:ext>
                </a:extLst>
              </a:tr>
              <a:tr h="367331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2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 dirty="0">
                          <a:effectLst/>
                        </a:rPr>
                        <a:t>0</a:t>
                      </a:r>
                      <a:endParaRPr lang="zh-TW" sz="22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20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extLst>
                  <a:ext uri="{0D108BD9-81ED-4DB2-BD59-A6C34878D82A}">
                    <a16:rowId xmlns:a16="http://schemas.microsoft.com/office/drawing/2014/main" val="1472002786"/>
                  </a:ext>
                </a:extLst>
              </a:tr>
              <a:tr h="367331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3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1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 dirty="0">
                          <a:effectLst/>
                        </a:rPr>
                        <a:t>21</a:t>
                      </a:r>
                      <a:endParaRPr lang="zh-TW" sz="22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extLst>
                  <a:ext uri="{0D108BD9-81ED-4DB2-BD59-A6C34878D82A}">
                    <a16:rowId xmlns:a16="http://schemas.microsoft.com/office/drawing/2014/main" val="3825417471"/>
                  </a:ext>
                </a:extLst>
              </a:tr>
              <a:tr h="367331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4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4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24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extLst>
                  <a:ext uri="{0D108BD9-81ED-4DB2-BD59-A6C34878D82A}">
                    <a16:rowId xmlns:a16="http://schemas.microsoft.com/office/drawing/2014/main" val="4070592520"/>
                  </a:ext>
                </a:extLst>
              </a:tr>
              <a:tr h="367331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5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15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 dirty="0">
                          <a:effectLst/>
                        </a:rPr>
                        <a:t>35</a:t>
                      </a:r>
                      <a:endParaRPr lang="zh-TW" sz="22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extLst>
                  <a:ext uri="{0D108BD9-81ED-4DB2-BD59-A6C34878D82A}">
                    <a16:rowId xmlns:a16="http://schemas.microsoft.com/office/drawing/2014/main" val="1603927803"/>
                  </a:ext>
                </a:extLst>
              </a:tr>
              <a:tr h="367331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6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6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26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extLst>
                  <a:ext uri="{0D108BD9-81ED-4DB2-BD59-A6C34878D82A}">
                    <a16:rowId xmlns:a16="http://schemas.microsoft.com/office/drawing/2014/main" val="1940894750"/>
                  </a:ext>
                </a:extLst>
              </a:tr>
              <a:tr h="367331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7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49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69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extLst>
                  <a:ext uri="{0D108BD9-81ED-4DB2-BD59-A6C34878D82A}">
                    <a16:rowId xmlns:a16="http://schemas.microsoft.com/office/drawing/2014/main" val="2459634642"/>
                  </a:ext>
                </a:extLst>
              </a:tr>
              <a:tr h="367331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8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 dirty="0">
                          <a:effectLst/>
                        </a:rPr>
                        <a:t>1</a:t>
                      </a:r>
                      <a:endParaRPr lang="zh-TW" sz="22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21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extLst>
                  <a:ext uri="{0D108BD9-81ED-4DB2-BD59-A6C34878D82A}">
                    <a16:rowId xmlns:a16="http://schemas.microsoft.com/office/drawing/2014/main" val="594407148"/>
                  </a:ext>
                </a:extLst>
              </a:tr>
              <a:tr h="367331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>
                          <a:effectLst/>
                        </a:rPr>
                        <a:t>9</a:t>
                      </a:r>
                      <a:endParaRPr lang="zh-TW" sz="22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 dirty="0">
                          <a:effectLst/>
                        </a:rPr>
                        <a:t>6</a:t>
                      </a:r>
                      <a:endParaRPr lang="zh-TW" sz="22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</a:pPr>
                      <a:r>
                        <a:rPr lang="en-US" sz="1900" kern="100" dirty="0">
                          <a:effectLst/>
                        </a:rPr>
                        <a:t>26</a:t>
                      </a:r>
                      <a:endParaRPr lang="zh-TW" sz="22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9134" marR="109134" marT="0" marB="0"/>
                </a:tc>
                <a:extLst>
                  <a:ext uri="{0D108BD9-81ED-4DB2-BD59-A6C34878D82A}">
                    <a16:rowId xmlns:a16="http://schemas.microsoft.com/office/drawing/2014/main" val="1684610789"/>
                  </a:ext>
                </a:extLst>
              </a:tr>
            </a:tbl>
          </a:graphicData>
        </a:graphic>
      </p:graphicFrame>
      <p:grpSp>
        <p:nvGrpSpPr>
          <p:cNvPr id="5" name="群組 4">
            <a:extLst>
              <a:ext uri="{FF2B5EF4-FFF2-40B4-BE49-F238E27FC236}">
                <a16:creationId xmlns:a16="http://schemas.microsoft.com/office/drawing/2014/main" id="{FED21538-5099-BFDC-C4C4-0B71263DF719}"/>
              </a:ext>
            </a:extLst>
          </p:cNvPr>
          <p:cNvGrpSpPr/>
          <p:nvPr/>
        </p:nvGrpSpPr>
        <p:grpSpPr>
          <a:xfrm>
            <a:off x="895787" y="4381690"/>
            <a:ext cx="5047473" cy="2012129"/>
            <a:chOff x="0" y="0"/>
            <a:chExt cx="4579621" cy="1825624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F4DBF595-EE94-6021-2444-1134E3276A22}"/>
                </a:ext>
              </a:extLst>
            </p:cNvPr>
            <p:cNvGrpSpPr/>
            <p:nvPr/>
          </p:nvGrpSpPr>
          <p:grpSpPr>
            <a:xfrm>
              <a:off x="0" y="0"/>
              <a:ext cx="4579621" cy="1825624"/>
              <a:chOff x="1354" y="11419"/>
              <a:chExt cx="45506" cy="15502"/>
            </a:xfrm>
          </p:grpSpPr>
          <p:grpSp>
            <p:nvGrpSpPr>
              <p:cNvPr id="12" name="群組 11">
                <a:extLst>
                  <a:ext uri="{FF2B5EF4-FFF2-40B4-BE49-F238E27FC236}">
                    <a16:creationId xmlns:a16="http://schemas.microsoft.com/office/drawing/2014/main" id="{651C9596-BDB5-C5D0-3FE4-032BD149C644}"/>
                  </a:ext>
                </a:extLst>
              </p:cNvPr>
              <p:cNvGrpSpPr/>
              <p:nvPr/>
            </p:nvGrpSpPr>
            <p:grpSpPr>
              <a:xfrm>
                <a:off x="7758" y="11419"/>
                <a:ext cx="31812" cy="6992"/>
                <a:chOff x="12971" y="20706"/>
                <a:chExt cx="53173" cy="12678"/>
              </a:xfrm>
            </p:grpSpPr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54D697CE-9ED5-DAFD-298A-E8D2155F4B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34493" y="20706"/>
                  <a:ext cx="9024" cy="1254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020DC58-FB82-FD39-529A-EE5B99543F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12971" y="21031"/>
                  <a:ext cx="8981" cy="1235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9F95BE81-9BFA-4878-92EC-AD090E2926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7153" y="20706"/>
                  <a:ext cx="8991" cy="1257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3" name="Text Box 110">
                <a:extLst>
                  <a:ext uri="{FF2B5EF4-FFF2-40B4-BE49-F238E27FC236}">
                    <a16:creationId xmlns:a16="http://schemas.microsoft.com/office/drawing/2014/main" id="{D8041683-197F-41F9-5CC5-3E1CF142A7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4" y="23001"/>
                <a:ext cx="45506" cy="39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/>
              <a:lstStyle/>
              <a:p>
                <a:pPr indent="355600" algn="ctr">
                  <a:lnSpc>
                    <a:spcPct val="150000"/>
                  </a:lnSpc>
                </a:pPr>
                <a:r>
                  <a:rPr lang="zh-TW" sz="1400" kern="100" dirty="0">
                    <a:effectLst/>
                    <a:latin typeface="Palatino Linotype" panose="0204050205050503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使用函數前後比較圖</a:t>
                </a:r>
                <a:endParaRPr lang="zh-TW" sz="1400" kern="100" dirty="0"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2745D13D-C0C8-282A-6104-86998AF531C2}"/>
                </a:ext>
              </a:extLst>
            </p:cNvPr>
            <p:cNvGrpSpPr/>
            <p:nvPr/>
          </p:nvGrpSpPr>
          <p:grpSpPr>
            <a:xfrm>
              <a:off x="343561" y="776976"/>
              <a:ext cx="4085728" cy="601980"/>
              <a:chOff x="83213" y="-147253"/>
              <a:chExt cx="3216674" cy="602552"/>
            </a:xfrm>
          </p:grpSpPr>
          <p:grpSp>
            <p:nvGrpSpPr>
              <p:cNvPr id="8" name="群組 7">
                <a:extLst>
                  <a:ext uri="{FF2B5EF4-FFF2-40B4-BE49-F238E27FC236}">
                    <a16:creationId xmlns:a16="http://schemas.microsoft.com/office/drawing/2014/main" id="{006FC261-45A5-4F78-F9D9-8E68FC75EF90}"/>
                  </a:ext>
                </a:extLst>
              </p:cNvPr>
              <p:cNvGrpSpPr/>
              <p:nvPr/>
            </p:nvGrpSpPr>
            <p:grpSpPr>
              <a:xfrm>
                <a:off x="83213" y="-136661"/>
                <a:ext cx="2018225" cy="517983"/>
                <a:chOff x="83213" y="-136661"/>
                <a:chExt cx="2018225" cy="517983"/>
              </a:xfrm>
            </p:grpSpPr>
            <p:sp>
              <p:nvSpPr>
                <p:cNvPr id="10" name="文字方塊 14">
                  <a:extLst>
                    <a:ext uri="{FF2B5EF4-FFF2-40B4-BE49-F238E27FC236}">
                      <a16:creationId xmlns:a16="http://schemas.microsoft.com/office/drawing/2014/main" id="{F7F416B3-369C-9482-FBD3-9EB6401011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213" y="-62597"/>
                  <a:ext cx="869534" cy="3855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/>
                <a:lstStyle/>
                <a:p>
                  <a:pPr indent="254000" algn="ctr"/>
                  <a:r>
                    <a:rPr lang="zh-TW" sz="1000">
                      <a:effectLst/>
                      <a:latin typeface="新細明體" panose="02020500000000000000" pitchFamily="18" charset="-12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原始圖像</a:t>
                  </a:r>
                  <a:endParaRPr lang="zh-TW" sz="1200">
                    <a:effectLst/>
                    <a:latin typeface="新細明體" panose="02020500000000000000" pitchFamily="18" charset="-120"/>
                    <a:ea typeface="新細明體" panose="02020500000000000000" pitchFamily="18" charset="-120"/>
                    <a:cs typeface="新細明體" panose="02020500000000000000" pitchFamily="18" charset="-120"/>
                  </a:endParaRPr>
                </a:p>
              </p:txBody>
            </p:sp>
            <p:sp>
              <p:nvSpPr>
                <p:cNvPr id="11" name="文字方塊 14">
                  <a:extLst>
                    <a:ext uri="{FF2B5EF4-FFF2-40B4-BE49-F238E27FC236}">
                      <a16:creationId xmlns:a16="http://schemas.microsoft.com/office/drawing/2014/main" id="{D2057CC4-9BE8-CD94-2369-165C95F9F59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50032" y="-136661"/>
                  <a:ext cx="1251406" cy="51798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/>
                <a:lstStyle/>
                <a:p>
                  <a:pPr indent="254000" algn="ctr"/>
                  <a:r>
                    <a:rPr lang="en-US" sz="1000" u="sng" dirty="0" err="1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新細明體" panose="02020500000000000000" pitchFamily="18" charset="-120"/>
                    </a:rPr>
                    <a:t>goodFeaturesToTrack</a:t>
                  </a:r>
                  <a:endParaRPr lang="zh-TW" sz="1200" dirty="0">
                    <a:effectLst/>
                    <a:latin typeface="新細明體" panose="02020500000000000000" pitchFamily="18" charset="-120"/>
                    <a:ea typeface="新細明體" panose="02020500000000000000" pitchFamily="18" charset="-120"/>
                    <a:cs typeface="新細明體" panose="02020500000000000000" pitchFamily="18" charset="-120"/>
                  </a:endParaRPr>
                </a:p>
                <a:p>
                  <a:pPr indent="254000" algn="ctr"/>
                  <a:r>
                    <a:rPr lang="zh-TW" sz="1000" dirty="0">
                      <a:solidFill>
                        <a:srgbClr val="000000"/>
                      </a:solidFill>
                      <a:effectLst/>
                      <a:latin typeface="新細明體" panose="02020500000000000000" pitchFamily="18" charset="-120"/>
                      <a:ea typeface="標楷體" panose="03000509000000000000" pitchFamily="65" charset="-120"/>
                      <a:cs typeface="Times New Roman" panose="02020603050405020304" pitchFamily="18" charset="0"/>
                    </a:rPr>
                    <a:t>函數執行後</a:t>
                  </a:r>
                  <a:endParaRPr lang="zh-TW" sz="1200" dirty="0">
                    <a:effectLst/>
                    <a:latin typeface="新細明體" panose="02020500000000000000" pitchFamily="18" charset="-120"/>
                    <a:ea typeface="新細明體" panose="02020500000000000000" pitchFamily="18" charset="-120"/>
                    <a:cs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9" name="文字方塊 14">
                <a:extLst>
                  <a:ext uri="{FF2B5EF4-FFF2-40B4-BE49-F238E27FC236}">
                    <a16:creationId xmlns:a16="http://schemas.microsoft.com/office/drawing/2014/main" id="{92EB6930-97A8-82D7-6332-AB68E6702A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9371" y="-147253"/>
                <a:ext cx="1340516" cy="602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/>
              <a:lstStyle/>
              <a:p>
                <a:pPr indent="254000" algn="ctr"/>
                <a:r>
                  <a:rPr lang="en-US" sz="10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新細明體" panose="02020500000000000000" pitchFamily="18" charset="-120"/>
                  </a:rPr>
                  <a:t>generate_similar_image</a:t>
                </a:r>
                <a:r>
                  <a:rPr lang="zh-TW" sz="10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函數執行後</a:t>
                </a:r>
                <a:endParaRPr lang="zh-TW" sz="1200">
                  <a:effectLst/>
                  <a:latin typeface="新細明體" panose="02020500000000000000" pitchFamily="18" charset="-120"/>
                  <a:ea typeface="新細明體" panose="02020500000000000000" pitchFamily="18" charset="-120"/>
                  <a:cs typeface="新細明體" panose="02020500000000000000" pitchFamily="18" charset="-120"/>
                </a:endParaRPr>
              </a:p>
            </p:txBody>
          </p:sp>
        </p:grpSp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11C48A4-436E-BA84-237C-2696E5E0BA8A}"/>
              </a:ext>
            </a:extLst>
          </p:cNvPr>
          <p:cNvSpPr txBox="1"/>
          <p:nvPr/>
        </p:nvSpPr>
        <p:spPr>
          <a:xfrm>
            <a:off x="572359" y="907420"/>
            <a:ext cx="6125914" cy="2808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zh-TW" sz="20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在微觀瑕疵檢測研究中，面對數據稀少的情況下，</a:t>
            </a:r>
            <a:r>
              <a:rPr lang="zh-TW" altLang="en-US" sz="20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利用</a:t>
            </a:r>
            <a:r>
              <a:rPr lang="zh-TW" altLang="zh-TW" sz="20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模擬數據生成技術。這一技術的目的是通過擴展數據集，提供更多可用的訓練樣本，從而提高模型的泛化能力與準確性。當前，本研究結合了</a:t>
            </a:r>
            <a:r>
              <a:rPr lang="en-US" altLang="zh-TW" sz="200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OpenCV</a:t>
            </a:r>
            <a:r>
              <a:rPr lang="zh-TW" altLang="zh-TW" sz="20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 </a:t>
            </a:r>
            <a:r>
              <a:rPr lang="en-US" altLang="zh-TW" sz="2000" dirty="0" err="1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goodFeaturesToTrack</a:t>
            </a:r>
            <a:r>
              <a:rPr lang="zh-TW" altLang="zh-TW" sz="20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函數和自定義的</a:t>
            </a:r>
            <a:r>
              <a:rPr lang="en-US" altLang="zh-TW" sz="2000" dirty="0" err="1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generate_similar_image</a:t>
            </a:r>
            <a:r>
              <a:rPr lang="zh-TW" altLang="zh-TW" sz="20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函數來實現數據擴增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4737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5BE84DF9-6C32-27F7-A825-65116170C1C5}"/>
              </a:ext>
            </a:extLst>
          </p:cNvPr>
          <p:cNvGrpSpPr/>
          <p:nvPr/>
        </p:nvGrpSpPr>
        <p:grpSpPr>
          <a:xfrm>
            <a:off x="2210797" y="1468689"/>
            <a:ext cx="7770406" cy="3046839"/>
            <a:chOff x="0" y="0"/>
            <a:chExt cx="5498038" cy="2155825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20BCD842-4B73-E4F5-CF58-5E6F11364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8100"/>
              <a:ext cx="5498038" cy="2117725"/>
              <a:chOff x="-488" y="0"/>
              <a:chExt cx="53014" cy="22717"/>
            </a:xfrm>
          </p:grpSpPr>
          <p:grpSp>
            <p:nvGrpSpPr>
              <p:cNvPr id="7" name="群組 6">
                <a:extLst>
                  <a:ext uri="{FF2B5EF4-FFF2-40B4-BE49-F238E27FC236}">
                    <a16:creationId xmlns:a16="http://schemas.microsoft.com/office/drawing/2014/main" id="{699BAA0A-029E-E552-058F-37D175E09A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488" y="0"/>
                <a:ext cx="53014" cy="19803"/>
                <a:chOff x="-816" y="0"/>
                <a:chExt cx="88593" cy="35911"/>
              </a:xfrm>
            </p:grpSpPr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1E2467B4-80DC-3B68-8032-952EBBA0AA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6650" y="17650"/>
                  <a:ext cx="6728" cy="121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A2BB18E9-13E7-F1F0-3B50-2B262C1FB2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4736" y="182"/>
                  <a:ext cx="6685" cy="1210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7997132A-24AA-472C-9A27-DD64E211A7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22097" y="182"/>
                  <a:ext cx="6685" cy="1210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0D002226-88F6-163F-4E6A-3C305F8AE1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39299" y="0"/>
                  <a:ext cx="6704" cy="1214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FD669147-3B0E-D865-1DBA-E1CB794990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6519" y="0"/>
                  <a:ext cx="6685" cy="1210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464A9026-D4C2-BD6A-D75D-C61552A3DE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73540" y="0"/>
                  <a:ext cx="6749" cy="1222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59217298-D82B-77E6-FCC6-EE5F451039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4762" y="17819"/>
                  <a:ext cx="6670" cy="120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78FCCDC7-8B08-BA73-B9D4-F8F1F5E949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21941" y="17732"/>
                  <a:ext cx="6718" cy="1216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DD6E88E1-5E4E-048F-7015-0EBE6493EE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39299" y="17671"/>
                  <a:ext cx="6704" cy="1214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FB86F7B6-259A-C251-8A6B-9564BE1343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73988" y="17619"/>
                  <a:ext cx="6733" cy="1219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9" name="文字方塊 14">
                  <a:extLst>
                    <a:ext uri="{FF2B5EF4-FFF2-40B4-BE49-F238E27FC236}">
                      <a16:creationId xmlns:a16="http://schemas.microsoft.com/office/drawing/2014/main" id="{6746A9E6-25CC-EDB7-FF07-8A1670E40E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816" y="29975"/>
                  <a:ext cx="88593" cy="59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indent="254000"/>
                  <a:r>
                    <a:rPr lang="en-US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(f ) </a:t>
                  </a:r>
                  <a:r>
                    <a:rPr lang="zh-TW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Times New Roman" panose="02020603050405020304" pitchFamily="18" charset="0"/>
                    </a:rPr>
                    <a:t>棋盤格畫面</a:t>
                  </a:r>
                  <a:r>
                    <a:rPr lang="en-US" sz="1600" i="1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A</a:t>
                  </a:r>
                  <a:r>
                    <a:rPr lang="en-US" sz="1600" kern="1200" baseline="-250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5</a:t>
                  </a:r>
                  <a:r>
                    <a:rPr lang="en-US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   (g) </a:t>
                  </a:r>
                  <a:r>
                    <a:rPr lang="zh-TW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Times New Roman" panose="02020603050405020304" pitchFamily="18" charset="0"/>
                    </a:rPr>
                    <a:t>白畫面</a:t>
                  </a:r>
                  <a:r>
                    <a:rPr lang="en-US" sz="1600" i="1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A</a:t>
                  </a:r>
                  <a:r>
                    <a:rPr lang="en-US" sz="1600" kern="1200" baseline="-250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6</a:t>
                  </a:r>
                  <a:r>
                    <a:rPr lang="en-US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     (h) </a:t>
                  </a:r>
                  <a:r>
                    <a:rPr lang="zh-TW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Times New Roman" panose="02020603050405020304" pitchFamily="18" charset="0"/>
                    </a:rPr>
                    <a:t>紅畫面</a:t>
                  </a:r>
                  <a:r>
                    <a:rPr lang="en-US" sz="1600" i="1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A</a:t>
                  </a:r>
                  <a:r>
                    <a:rPr lang="en-US" sz="1600" kern="1200" baseline="-250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7</a:t>
                  </a:r>
                  <a:r>
                    <a:rPr lang="en-US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     </a:t>
                  </a:r>
                  <a:r>
                    <a:rPr lang="zh-TW" altLang="en-US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  </a:t>
                  </a:r>
                  <a:r>
                    <a:rPr lang="en-US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(</a:t>
                  </a:r>
                  <a:r>
                    <a:rPr lang="en-US" sz="1600" kern="1200" dirty="0" err="1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i</a:t>
                  </a:r>
                  <a:r>
                    <a:rPr lang="en-US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) </a:t>
                  </a:r>
                  <a:r>
                    <a:rPr lang="zh-TW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Times New Roman" panose="02020603050405020304" pitchFamily="18" charset="0"/>
                    </a:rPr>
                    <a:t>綠畫面</a:t>
                  </a:r>
                  <a:r>
                    <a:rPr lang="en-US" sz="1600" i="1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A</a:t>
                  </a:r>
                  <a:r>
                    <a:rPr lang="en-US" sz="1600" kern="1200" baseline="-250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8</a:t>
                  </a:r>
                  <a:r>
                    <a:rPr lang="en-US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        (j) </a:t>
                  </a:r>
                  <a:r>
                    <a:rPr lang="zh-TW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Times New Roman" panose="02020603050405020304" pitchFamily="18" charset="0"/>
                    </a:rPr>
                    <a:t>藍畫面</a:t>
                  </a:r>
                  <a:r>
                    <a:rPr lang="en-US" sz="1600" i="1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A</a:t>
                  </a:r>
                  <a:r>
                    <a:rPr lang="en-US" sz="1600" kern="1200" baseline="-250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9</a:t>
                  </a:r>
                  <a:endParaRPr lang="zh-TW" sz="1600" dirty="0">
                    <a:effectLst/>
                    <a:latin typeface="新細明體" panose="02020500000000000000" pitchFamily="18" charset="-120"/>
                    <a:ea typeface="新細明體" panose="02020500000000000000" pitchFamily="18" charset="-120"/>
                    <a:cs typeface="新細明體" panose="02020500000000000000" pitchFamily="18" charset="-120"/>
                  </a:endParaRPr>
                </a:p>
              </p:txBody>
            </p:sp>
            <p:sp>
              <p:nvSpPr>
                <p:cNvPr id="20" name="文字方塊 26">
                  <a:extLst>
                    <a:ext uri="{FF2B5EF4-FFF2-40B4-BE49-F238E27FC236}">
                      <a16:creationId xmlns:a16="http://schemas.microsoft.com/office/drawing/2014/main" id="{9EE4DD0B-BE2F-696D-830D-B7ECCF997B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424" y="12101"/>
                  <a:ext cx="86592" cy="146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indent="254000"/>
                  <a:r>
                    <a:rPr lang="en-US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(a) </a:t>
                  </a:r>
                  <a:r>
                    <a:rPr lang="zh-TW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Times New Roman" panose="02020603050405020304" pitchFamily="18" charset="0"/>
                    </a:rPr>
                    <a:t>除塵畫面</a:t>
                  </a:r>
                  <a:r>
                    <a:rPr lang="en-US" sz="1600" i="1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A</a:t>
                  </a:r>
                  <a:r>
                    <a:rPr lang="en-US" sz="1600" kern="1200" baseline="-250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0   </a:t>
                  </a:r>
                  <a:r>
                    <a:rPr lang="en-US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 (b) 128</a:t>
                  </a:r>
                  <a:r>
                    <a:rPr lang="zh-TW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Times New Roman" panose="02020603050405020304" pitchFamily="18" charset="0"/>
                    </a:rPr>
                    <a:t>畫面</a:t>
                  </a:r>
                  <a:r>
                    <a:rPr lang="en-US" sz="1600" i="1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A</a:t>
                  </a:r>
                  <a:r>
                    <a:rPr lang="en-US" sz="1600" kern="1200" baseline="-250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1</a:t>
                  </a:r>
                  <a:r>
                    <a:rPr lang="en-US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     (c) </a:t>
                  </a:r>
                  <a:r>
                    <a:rPr lang="zh-TW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Times New Roman" panose="02020603050405020304" pitchFamily="18" charset="0"/>
                    </a:rPr>
                    <a:t>黑畫面</a:t>
                  </a:r>
                  <a:r>
                    <a:rPr lang="en-US" sz="1600" i="1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A</a:t>
                  </a:r>
                  <a:r>
                    <a:rPr lang="en-US" sz="1600" kern="1200" baseline="-250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2</a:t>
                  </a:r>
                  <a:r>
                    <a:rPr lang="en-US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    (d) </a:t>
                  </a:r>
                  <a:r>
                    <a:rPr lang="zh-TW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Times New Roman" panose="02020603050405020304" pitchFamily="18" charset="0"/>
                    </a:rPr>
                    <a:t>黑閃畫面</a:t>
                  </a:r>
                  <a:r>
                    <a:rPr lang="en-US" sz="1600" i="1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A</a:t>
                  </a:r>
                  <a:r>
                    <a:rPr lang="en-US" sz="1600" kern="1200" baseline="-250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3  </a:t>
                  </a:r>
                  <a:r>
                    <a:rPr lang="en-US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(e) </a:t>
                  </a:r>
                  <a:r>
                    <a:rPr lang="zh-TW" sz="1600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Times New Roman" panose="02020603050405020304" pitchFamily="18" charset="0"/>
                    </a:rPr>
                    <a:t>百葉窗畫面</a:t>
                  </a:r>
                  <a:r>
                    <a:rPr lang="en-US" sz="1600" i="1" kern="12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A</a:t>
                  </a:r>
                  <a:r>
                    <a:rPr lang="en-US" sz="1600" kern="1200" baseline="-25000" dirty="0">
                      <a:solidFill>
                        <a:srgbClr val="000000"/>
                      </a:solidFill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4</a:t>
                  </a:r>
                  <a:endParaRPr lang="zh-TW" sz="1600" dirty="0">
                    <a:effectLst/>
                    <a:latin typeface="新細明體" panose="02020500000000000000" pitchFamily="18" charset="-120"/>
                    <a:ea typeface="新細明體" panose="02020500000000000000" pitchFamily="18" charset="-120"/>
                    <a:cs typeface="新細明體" panose="02020500000000000000" pitchFamily="18" charset="-120"/>
                  </a:endParaRPr>
                </a:p>
                <a:p>
                  <a:pPr marL="355600" indent="177800"/>
                  <a:r>
                    <a:rPr lang="en-US" sz="1600" dirty="0">
                      <a:effectLst/>
                      <a:latin typeface="Times New Roman" panose="02020603050405020304" pitchFamily="18" charset="0"/>
                      <a:ea typeface="標楷體" panose="03000509000000000000" pitchFamily="65" charset="-120"/>
                      <a:cs typeface="新細明體" panose="02020500000000000000" pitchFamily="18" charset="-120"/>
                    </a:rPr>
                    <a:t> </a:t>
                  </a:r>
                  <a:endParaRPr lang="zh-TW" sz="1600" dirty="0">
                    <a:effectLst/>
                    <a:latin typeface="新細明體" panose="02020500000000000000" pitchFamily="18" charset="-120"/>
                    <a:ea typeface="新細明體" panose="02020500000000000000" pitchFamily="18" charset="-120"/>
                    <a:cs typeface="新細明體" panose="02020500000000000000" pitchFamily="18" charset="-120"/>
                  </a:endParaRPr>
                </a:p>
              </p:txBody>
            </p:sp>
          </p:grpSp>
          <p:sp>
            <p:nvSpPr>
              <p:cNvPr id="8" name="Text Box 110">
                <a:extLst>
                  <a:ext uri="{FF2B5EF4-FFF2-40B4-BE49-F238E27FC236}">
                    <a16:creationId xmlns:a16="http://schemas.microsoft.com/office/drawing/2014/main" id="{2CFEA264-BBE7-4D0C-8FED-15402BC8FE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" y="18437"/>
                <a:ext cx="45506" cy="4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indent="355600" algn="ctr">
                  <a:lnSpc>
                    <a:spcPct val="150000"/>
                  </a:lnSpc>
                </a:pPr>
                <a:r>
                  <a:rPr lang="zh-TW" sz="1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圖編號</a:t>
                </a:r>
                <a:r>
                  <a:rPr lang="en-US" sz="1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13107</a:t>
                </a:r>
                <a:endParaRPr lang="zh-TW" sz="1400" kern="100" dirty="0"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indent="126365" algn="just">
                  <a:lnSpc>
                    <a:spcPct val="150000"/>
                  </a:lnSpc>
                </a:pPr>
                <a:r>
                  <a:rPr lang="en-US" sz="1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 </a:t>
                </a:r>
                <a:endParaRPr lang="zh-TW" sz="1400" kern="100" dirty="0"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8855FE8-3AAF-3EC6-F855-8A27CA35E7E1}"/>
                </a:ext>
              </a:extLst>
            </p:cNvPr>
            <p:cNvSpPr/>
            <p:nvPr/>
          </p:nvSpPr>
          <p:spPr>
            <a:xfrm>
              <a:off x="57150" y="0"/>
              <a:ext cx="5207000" cy="895350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0267898-5181-D4D4-2CD7-3EF949C97E57}"/>
                </a:ext>
              </a:extLst>
            </p:cNvPr>
            <p:cNvSpPr/>
            <p:nvPr/>
          </p:nvSpPr>
          <p:spPr>
            <a:xfrm>
              <a:off x="82550" y="914400"/>
              <a:ext cx="2108200" cy="895350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11B5F44-0E90-C48D-26AC-B73FCFD9CA99}"/>
                </a:ext>
              </a:extLst>
            </p:cNvPr>
            <p:cNvSpPr/>
            <p:nvPr/>
          </p:nvSpPr>
          <p:spPr>
            <a:xfrm>
              <a:off x="2286000" y="920750"/>
              <a:ext cx="2964180" cy="895350"/>
            </a:xfrm>
            <a:prstGeom prst="rect">
              <a:avLst/>
            </a:prstGeom>
            <a:noFill/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/>
            </a:p>
          </p:txBody>
        </p:sp>
      </p:grpSp>
      <p:pic>
        <p:nvPicPr>
          <p:cNvPr id="21" name="內容版面配置區 30">
            <a:extLst>
              <a:ext uri="{FF2B5EF4-FFF2-40B4-BE49-F238E27FC236}">
                <a16:creationId xmlns:a16="http://schemas.microsoft.com/office/drawing/2014/main" id="{E954CC9D-F679-BBDF-F62A-BB8E06AA23F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898" y="4419247"/>
            <a:ext cx="5029461" cy="1954187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80FF24DC-27BC-C3C5-F38E-4744A304A496}"/>
              </a:ext>
            </a:extLst>
          </p:cNvPr>
          <p:cNvSpPr txBox="1">
            <a:spLocks/>
          </p:cNvSpPr>
          <p:nvPr/>
        </p:nvSpPr>
        <p:spPr>
          <a:xfrm>
            <a:off x="852569" y="122166"/>
            <a:ext cx="10013709" cy="103036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sz="36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4400" kern="150" dirty="0">
                <a:solidFill>
                  <a:srgbClr val="0815B8"/>
                </a:solidFill>
                <a:latin typeface="DFKai-SB"/>
                <a:ea typeface="微軟正黑體"/>
                <a:cs typeface="Times New Roman"/>
              </a:rPr>
              <a:t>預測結果</a:t>
            </a:r>
            <a:endParaRPr lang="en-US" sz="4400" kern="150" dirty="0">
              <a:solidFill>
                <a:srgbClr val="0815B8"/>
              </a:solidFill>
              <a:latin typeface="DFKai-SB"/>
              <a:ea typeface="微軟正黑體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64650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400" kern="150">
                <a:latin typeface="DFKai-SB"/>
                <a:ea typeface="微軟正黑體"/>
                <a:cs typeface="Times New Roman"/>
              </a:rPr>
              <a:t>實驗成果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521788" y="2444217"/>
            <a:ext cx="10027293" cy="3718557"/>
          </a:xfrm>
        </p:spPr>
        <p:txBody>
          <a:bodyPr>
            <a:normAutofit/>
          </a:bodyPr>
          <a:lstStyle/>
          <a:p>
            <a:pPr marL="227965" indent="-22796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lang="ja-JP" alt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成果摘要</a:t>
            </a:r>
            <a:r>
              <a:rPr lang="zh-TW" alt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：</a:t>
            </a:r>
            <a:endParaRPr lang="en-US" altLang="zh-TW" sz="28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Arial"/>
            </a:endParaRPr>
          </a:p>
          <a:p>
            <a:pPr marL="227965" indent="-22796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•</a:t>
            </a:r>
            <a:r>
              <a:rPr lang="ja-JP" alt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瑕疵定位準確率達到</a:t>
            </a:r>
            <a:r>
              <a:rPr lang="en-US" altLang="zh-TW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 95%</a:t>
            </a:r>
            <a:r>
              <a:rPr lang="ja-JP" alt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以上</a:t>
            </a:r>
            <a:r>
              <a:rPr lang="zh-TW" alt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。</a:t>
            </a:r>
            <a:endParaRPr lang="en-US" altLang="zh-TW" sz="28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Arial"/>
            </a:endParaRPr>
          </a:p>
          <a:p>
            <a:pPr marL="227965" indent="-22796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•</a:t>
            </a:r>
            <a:r>
              <a:rPr lang="ja-JP" alt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檢測執行速度</a:t>
            </a:r>
            <a:r>
              <a:rPr lang="en-US" altLang="zh-TW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&lt; 2 </a:t>
            </a:r>
            <a:r>
              <a:rPr lang="ja-JP" alt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秒，符合工業應用需求</a:t>
            </a:r>
            <a:r>
              <a:rPr lang="zh-TW" alt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。</a:t>
            </a:r>
            <a:endParaRPr lang="en-US" altLang="zh-TW" sz="28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Arial"/>
            </a:endParaRPr>
          </a:p>
          <a:p>
            <a:pPr marL="227965" indent="-22796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•</a:t>
            </a:r>
            <a:r>
              <a:rPr lang="ja-JP" alt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宏觀模型準確率</a:t>
            </a:r>
            <a:r>
              <a:rPr lang="zh-TW" alt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：</a:t>
            </a:r>
            <a:r>
              <a:rPr lang="en-US" altLang="zh-TW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99.87%</a:t>
            </a:r>
            <a:r>
              <a:rPr lang="ja-JP" alt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；微觀模型準確率</a:t>
            </a:r>
            <a:r>
              <a:rPr lang="zh-TW" alt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：</a:t>
            </a:r>
            <a:r>
              <a:rPr lang="en-US" altLang="zh-TW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95.24%</a:t>
            </a:r>
            <a:r>
              <a:rPr lang="zh-TW" altLang="en-US" sz="28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rial"/>
              </a:rPr>
              <a:t>。</a:t>
            </a:r>
            <a:endParaRPr lang="en-US" altLang="zh-TW" sz="28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6292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B65A9-1ACB-EE49-7672-A927F8F3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109728" tIns="109728" rIns="109728" bIns="91440" rtlCol="0" anchor="ctr" anchorCtr="0">
            <a:noAutofit/>
          </a:bodyPr>
          <a:lstStyle/>
          <a:p>
            <a:pPr algn="ctr"/>
            <a:r>
              <a:rPr lang="zh-TW" altLang="en-US" sz="4400" kern="150" dirty="0">
                <a:solidFill>
                  <a:srgbClr val="0815B8"/>
                </a:solidFill>
                <a:latin typeface="DFKai-SB"/>
                <a:ea typeface="微軟正黑體"/>
                <a:cs typeface="Times New Roman"/>
              </a:rPr>
              <a:t>未來方向</a:t>
            </a:r>
            <a:endParaRPr lang="en-US" sz="4400" kern="150" dirty="0">
              <a:solidFill>
                <a:srgbClr val="0815B8"/>
              </a:solidFill>
              <a:latin typeface="DFKai-SB"/>
              <a:ea typeface="微軟正黑體"/>
              <a:cs typeface="Times New Roman"/>
            </a:endParaRPr>
          </a:p>
        </p:txBody>
      </p:sp>
      <p:pic>
        <p:nvPicPr>
          <p:cNvPr id="9" name="Content Placeholder 8" descr="Person alone in an office">
            <a:extLst>
              <a:ext uri="{FF2B5EF4-FFF2-40B4-BE49-F238E27FC236}">
                <a16:creationId xmlns:a16="http://schemas.microsoft.com/office/drawing/2014/main" id="{2C6BF86C-38BB-3B7E-9F36-9166C538BD1D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0" y="1038"/>
            <a:ext cx="4613275" cy="6855923"/>
          </a:xfr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11FA1D-9BBD-0B69-183B-94B4216F8D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140405" y="1959427"/>
            <a:ext cx="6914319" cy="416165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應用深度學習模型的瑕疵特徵擷取與分類，  涉及多重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CNN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網路的集 成模型設計與訓練</a:t>
            </a: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利用改良型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U-Net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進行語意分割的像素級瑕疵定位與辨識等</a:t>
            </a:r>
            <a:endParaRPr lang="en-US" altLang="zh-TW" sz="2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進一步提升微觀瑕疵的模型質量，提高預測與驗證準確率</a:t>
            </a:r>
          </a:p>
        </p:txBody>
      </p:sp>
    </p:spTree>
    <p:extLst>
      <p:ext uri="{BB962C8B-B14F-4D97-AF65-F5344CB8AC3E}">
        <p14:creationId xmlns:p14="http://schemas.microsoft.com/office/powerpoint/2010/main" val="11701088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833A24-280B-6639-981D-E0DDB4D70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7023" y="825687"/>
            <a:ext cx="9983378" cy="5201730"/>
          </a:xfrm>
        </p:spPr>
        <p:txBody>
          <a:bodyPr/>
          <a:lstStyle/>
          <a:p>
            <a:pPr algn="ctr"/>
            <a:r>
              <a:rPr lang="zh-TW" altLang="en-US" dirty="0"/>
              <a:t>謝謝大家</a:t>
            </a:r>
          </a:p>
        </p:txBody>
      </p:sp>
    </p:spTree>
    <p:extLst>
      <p:ext uri="{BB962C8B-B14F-4D97-AF65-F5344CB8AC3E}">
        <p14:creationId xmlns:p14="http://schemas.microsoft.com/office/powerpoint/2010/main" val="481455397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ShojiVTI</Template>
  <TotalTime>173</TotalTime>
  <Words>1168</Words>
  <Application>Microsoft Office PowerPoint</Application>
  <PresentationFormat>寬螢幕</PresentationFormat>
  <Paragraphs>250</Paragraphs>
  <Slides>27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41" baseType="lpstr">
      <vt:lpstr>Meiryo</vt:lpstr>
      <vt:lpstr>微軟正黑體</vt:lpstr>
      <vt:lpstr>新細明體</vt:lpstr>
      <vt:lpstr>標楷體</vt:lpstr>
      <vt:lpstr>標楷體</vt:lpstr>
      <vt:lpstr>標楷體</vt:lpstr>
      <vt:lpstr>Calibri</vt:lpstr>
      <vt:lpstr>Cascadia Code SemiBold</vt:lpstr>
      <vt:lpstr>Corbel</vt:lpstr>
      <vt:lpstr>Palatino Linotype</vt:lpstr>
      <vt:lpstr>Segoe UI</vt:lpstr>
      <vt:lpstr>Times New Roman</vt:lpstr>
      <vt:lpstr>Wingdings</vt:lpstr>
      <vt:lpstr>ShojiVTI</vt:lpstr>
      <vt:lpstr>小尺寸TFT-LCD電路缺陷偵測與辨識系統的研究與開發  指導教授：賈叢林 組員：温莉妍、周逸欣、夏采彤、 曹芩慈、楊采蓮、楊漢澤</vt:lpstr>
      <vt:lpstr>簡報大綱</vt:lpstr>
      <vt:lpstr>研究動機</vt:lpstr>
      <vt:lpstr>整體的瑕疵檢測與辨識流程</vt:lpstr>
      <vt:lpstr>10張在不同檢驗條件下的特徵影像</vt:lpstr>
      <vt:lpstr>檢測區域定位處理流程</vt:lpstr>
      <vt:lpstr>影像疊加處理</vt:lpstr>
      <vt:lpstr>影像二值化</vt:lpstr>
      <vt:lpstr>聯通元件標籤處理(Connected Components Labeling, CCL)</vt:lpstr>
      <vt:lpstr>形象學</vt:lpstr>
      <vt:lpstr>原始特徵影像和 檢測影像的對比</vt:lpstr>
      <vt:lpstr>特徵影像預處理</vt:lpstr>
      <vt:lpstr>垂直線和水平線 的定位</vt:lpstr>
      <vt:lpstr>檢測區域角點 的定位</vt:lpstr>
      <vt:lpstr>影像預處理(影像分割結果)</vt:lpstr>
      <vt:lpstr>PowerPoint 簡報</vt:lpstr>
      <vt:lpstr>宏觀瑕疵</vt:lpstr>
      <vt:lpstr>宏觀瑕疵</vt:lpstr>
      <vt:lpstr>PowerPoint 簡報</vt:lpstr>
      <vt:lpstr>PowerPoint 簡報</vt:lpstr>
      <vt:lpstr>PowerPoint 簡報</vt:lpstr>
      <vt:lpstr>微觀瑕疵範例</vt:lpstr>
      <vt:lpstr>PowerPoint 簡報</vt:lpstr>
      <vt:lpstr>PowerPoint 簡報</vt:lpstr>
      <vt:lpstr>實驗成果</vt:lpstr>
      <vt:lpstr>未來方向</vt:lpstr>
      <vt:lpstr>謝謝大家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周逸欣</dc:creator>
  <cp:lastModifiedBy>逸欣 周</cp:lastModifiedBy>
  <cp:revision>576</cp:revision>
  <dcterms:created xsi:type="dcterms:W3CDTF">2024-11-27T08:01:24Z</dcterms:created>
  <dcterms:modified xsi:type="dcterms:W3CDTF">2024-11-30T08:49:44Z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